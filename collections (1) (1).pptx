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8" r:id="rId4"/>
    <p:sldId id="260" r:id="rId5"/>
    <p:sldId id="266" r:id="rId6"/>
    <p:sldId id="265" r:id="rId7"/>
    <p:sldId id="267" r:id="rId8"/>
    <p:sldId id="264" r:id="rId9"/>
    <p:sldId id="263" r:id="rId10"/>
    <p:sldId id="276" r:id="rId11"/>
    <p:sldId id="277" r:id="rId12"/>
    <p:sldId id="278" r:id="rId13"/>
    <p:sldId id="280" r:id="rId14"/>
    <p:sldId id="282" r:id="rId15"/>
    <p:sldId id="281" r:id="rId16"/>
    <p:sldId id="283" r:id="rId17"/>
    <p:sldId id="284" r:id="rId18"/>
    <p:sldId id="285" r:id="rId19"/>
    <p:sldId id="287" r:id="rId20"/>
    <p:sldId id="286" r:id="rId21"/>
    <p:sldId id="268" r:id="rId22"/>
    <p:sldId id="288" r:id="rId23"/>
    <p:sldId id="270" r:id="rId24"/>
    <p:sldId id="271" r:id="rId25"/>
    <p:sldId id="289" r:id="rId26"/>
    <p:sldId id="292" r:id="rId27"/>
    <p:sldId id="293" r:id="rId28"/>
    <p:sldId id="272" r:id="rId29"/>
    <p:sldId id="274" r:id="rId30"/>
    <p:sldId id="269" r:id="rId31"/>
    <p:sldId id="275" r:id="rId32"/>
    <p:sldId id="294" r:id="rId33"/>
    <p:sldId id="295" r:id="rId34"/>
    <p:sldId id="297" r:id="rId35"/>
    <p:sldId id="296" r:id="rId36"/>
    <p:sldId id="298" r:id="rId37"/>
    <p:sldId id="299" r:id="rId38"/>
    <p:sldId id="300" r:id="rId39"/>
    <p:sldId id="273" r:id="rId40"/>
    <p:sldId id="308" r:id="rId41"/>
    <p:sldId id="307" r:id="rId42"/>
    <p:sldId id="301" r:id="rId43"/>
    <p:sldId id="302" r:id="rId44"/>
    <p:sldId id="303" r:id="rId45"/>
    <p:sldId id="304" r:id="rId46"/>
    <p:sldId id="305" r:id="rId47"/>
    <p:sldId id="306" r:id="rId48"/>
    <p:sldId id="261" r:id="rId49"/>
    <p:sldId id="259" r:id="rId50"/>
    <p:sldId id="25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CFCF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-72" y="-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25687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9801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7229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173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724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2639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2876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7862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7302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2438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8391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8438E-6D96-4AF6-9677-7436EF390AD4}" type="datetimeFigureOut">
              <a:rPr lang="en-IN" smtClean="0"/>
              <a:pPr/>
              <a:t>17-07-2021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96346-8CBA-4010-B3CD-DB6D248DD7C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4606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util/LinkedHashMap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2657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7397" y="1337162"/>
            <a:ext cx="11057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600" b="1" spc="-5" dirty="0" smtClean="0">
                <a:solidFill>
                  <a:srgbClr val="FF0000"/>
                </a:solidFill>
                <a:cs typeface="Calibri"/>
              </a:rPr>
              <a:t>Collection:</a:t>
            </a:r>
            <a:r>
              <a:rPr lang="en-US" sz="3200" spc="-5" dirty="0" smtClean="0">
                <a:cs typeface="Calibri"/>
              </a:rPr>
              <a:t> It </a:t>
            </a:r>
            <a:r>
              <a:rPr lang="en-US" sz="3200" dirty="0" smtClean="0">
                <a:cs typeface="Calibri"/>
              </a:rPr>
              <a:t>is used to </a:t>
            </a:r>
            <a:r>
              <a:rPr lang="en-US" sz="3200" spc="-5" dirty="0" smtClean="0">
                <a:cs typeface="Calibri"/>
              </a:rPr>
              <a:t>that </a:t>
            </a:r>
            <a:r>
              <a:rPr lang="en-US" sz="3200" spc="-10" dirty="0">
                <a:cs typeface="Calibri"/>
              </a:rPr>
              <a:t>groups </a:t>
            </a:r>
            <a:r>
              <a:rPr lang="en-US" sz="3200" dirty="0" smtClean="0">
                <a:cs typeface="Calibri"/>
              </a:rPr>
              <a:t>elements</a:t>
            </a:r>
            <a:r>
              <a:rPr lang="en-US" sz="3200" spc="-235" dirty="0" smtClean="0">
                <a:cs typeface="Calibri"/>
              </a:rPr>
              <a:t> </a:t>
            </a:r>
            <a:r>
              <a:rPr lang="en-US" sz="3200" spc="-10" dirty="0">
                <a:cs typeface="Calibri"/>
              </a:rPr>
              <a:t>into  </a:t>
            </a:r>
            <a:r>
              <a:rPr lang="en-US" sz="3200" dirty="0">
                <a:cs typeface="Calibri"/>
              </a:rPr>
              <a:t>an</a:t>
            </a:r>
            <a:r>
              <a:rPr lang="en-US" sz="3200" spc="-35" dirty="0">
                <a:cs typeface="Calibri"/>
              </a:rPr>
              <a:t> </a:t>
            </a:r>
            <a:r>
              <a:rPr lang="en-US" sz="3200" spc="-25" dirty="0">
                <a:cs typeface="Calibri"/>
              </a:rPr>
              <a:t>entity.</a:t>
            </a:r>
            <a:endParaRPr lang="en-US" sz="3200" dirty="0"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7397" y="2464076"/>
            <a:ext cx="10496781" cy="174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200" dirty="0" smtClean="0">
                <a:solidFill>
                  <a:srgbClr val="00B050"/>
                </a:solidFill>
                <a:cs typeface="Calibri"/>
              </a:rPr>
              <a:t>Examples</a:t>
            </a:r>
            <a:r>
              <a:rPr lang="en-US" sz="3200" dirty="0" smtClean="0">
                <a:cs typeface="Calibri"/>
              </a:rPr>
              <a:t>:	list </a:t>
            </a:r>
            <a:r>
              <a:rPr lang="en-US" sz="3200" dirty="0">
                <a:cs typeface="Calibri"/>
              </a:rPr>
              <a:t>of bank accounts, </a:t>
            </a:r>
            <a:endParaRPr lang="en-US" sz="3200" dirty="0" smtClean="0">
              <a:cs typeface="Calibri"/>
            </a:endParaRPr>
          </a:p>
          <a:p>
            <a:pPr marL="2755265" marR="336550" lvl="6" algn="just">
              <a:spcBef>
                <a:spcPts val="650"/>
              </a:spcBef>
              <a:tabLst>
                <a:tab pos="356870" algn="l"/>
                <a:tab pos="357505" algn="l"/>
              </a:tabLst>
            </a:pPr>
            <a:r>
              <a:rPr lang="en-US" sz="3200" dirty="0" smtClean="0">
                <a:cs typeface="Calibri"/>
              </a:rPr>
              <a:t>set </a:t>
            </a:r>
            <a:r>
              <a:rPr lang="en-US" sz="3200" dirty="0">
                <a:cs typeface="Calibri"/>
              </a:rPr>
              <a:t>of  students, </a:t>
            </a:r>
            <a:endParaRPr lang="en-US" sz="3200" dirty="0" smtClean="0">
              <a:cs typeface="Calibri"/>
            </a:endParaRPr>
          </a:p>
          <a:p>
            <a:pPr marL="2755265" marR="336550" lvl="6" algn="just">
              <a:spcBef>
                <a:spcPts val="650"/>
              </a:spcBef>
              <a:tabLst>
                <a:tab pos="356870" algn="l"/>
                <a:tab pos="357505" algn="l"/>
              </a:tabLst>
            </a:pPr>
            <a:r>
              <a:rPr lang="en-US" sz="3200" dirty="0" smtClean="0">
                <a:cs typeface="Calibri"/>
              </a:rPr>
              <a:t>group </a:t>
            </a:r>
            <a:r>
              <a:rPr lang="en-US" sz="3200" dirty="0">
                <a:cs typeface="Calibri"/>
              </a:rPr>
              <a:t>of telephone numbers.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7397" y="4564759"/>
            <a:ext cx="113198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600" b="1" spc="-5" dirty="0">
                <a:solidFill>
                  <a:srgbClr val="FF0000"/>
                </a:solidFill>
                <a:cs typeface="Calibri"/>
              </a:rPr>
              <a:t>Collections </a:t>
            </a:r>
            <a:r>
              <a:rPr lang="en-US" sz="3600" b="1" spc="-5" dirty="0" smtClean="0">
                <a:solidFill>
                  <a:srgbClr val="FF0000"/>
                </a:solidFill>
                <a:cs typeface="Calibri"/>
              </a:rPr>
              <a:t>framework : </a:t>
            </a:r>
            <a:r>
              <a:rPr lang="en-US" sz="3200" spc="-5" dirty="0" smtClean="0">
                <a:cs typeface="Calibri"/>
              </a:rPr>
              <a:t>It</a:t>
            </a:r>
            <a:r>
              <a:rPr lang="en-US" sz="3600" b="1" spc="-5" dirty="0" smtClean="0">
                <a:solidFill>
                  <a:srgbClr val="FF0000"/>
                </a:solidFill>
                <a:cs typeface="Calibri"/>
              </a:rPr>
              <a:t> </a:t>
            </a:r>
            <a:r>
              <a:rPr lang="en-US" sz="3200" spc="-5" dirty="0" smtClean="0">
                <a:cs typeface="Calibri"/>
              </a:rPr>
              <a:t>provides </a:t>
            </a:r>
            <a:r>
              <a:rPr lang="en-US" sz="3200" dirty="0">
                <a:cs typeface="Calibri"/>
              </a:rPr>
              <a:t>a well-designed </a:t>
            </a:r>
            <a:r>
              <a:rPr lang="en-US" sz="3200" spc="-10" dirty="0">
                <a:cs typeface="Calibri"/>
              </a:rPr>
              <a:t>set </a:t>
            </a:r>
            <a:r>
              <a:rPr lang="en-US" sz="3200" dirty="0">
                <a:cs typeface="Calibri"/>
              </a:rPr>
              <a:t>of  </a:t>
            </a:r>
            <a:r>
              <a:rPr lang="en-US" sz="3200" spc="-10" dirty="0">
                <a:cs typeface="Calibri"/>
              </a:rPr>
              <a:t>interfaces </a:t>
            </a:r>
            <a:r>
              <a:rPr lang="en-US" sz="3200" dirty="0">
                <a:cs typeface="Calibri"/>
              </a:rPr>
              <a:t>and </a:t>
            </a:r>
            <a:r>
              <a:rPr lang="en-US" sz="3200" spc="-5" dirty="0">
                <a:cs typeface="Calibri"/>
              </a:rPr>
              <a:t>classes </a:t>
            </a:r>
            <a:r>
              <a:rPr lang="en-US" sz="3200" spc="-15" dirty="0">
                <a:cs typeface="Calibri"/>
              </a:rPr>
              <a:t>for </a:t>
            </a:r>
            <a:r>
              <a:rPr lang="en-US" sz="3200" spc="-10" dirty="0">
                <a:cs typeface="Calibri"/>
              </a:rPr>
              <a:t>storing </a:t>
            </a:r>
            <a:r>
              <a:rPr lang="en-US" sz="3200" dirty="0">
                <a:cs typeface="Calibri"/>
              </a:rPr>
              <a:t>and manipulating </a:t>
            </a:r>
            <a:r>
              <a:rPr lang="en-US" sz="3200" spc="-10" dirty="0">
                <a:cs typeface="Calibri"/>
              </a:rPr>
              <a:t>groups</a:t>
            </a:r>
            <a:r>
              <a:rPr lang="en-US" sz="3200" spc="-220" dirty="0">
                <a:cs typeface="Calibri"/>
              </a:rPr>
              <a:t> </a:t>
            </a:r>
            <a:r>
              <a:rPr lang="en-US" sz="3200" spc="-5" dirty="0">
                <a:cs typeface="Calibri"/>
              </a:rPr>
              <a:t>of  </a:t>
            </a:r>
            <a:r>
              <a:rPr lang="en-US" sz="3200" spc="-10" dirty="0">
                <a:cs typeface="Calibri"/>
              </a:rPr>
              <a:t>data </a:t>
            </a:r>
            <a:r>
              <a:rPr lang="en-US" sz="3200" dirty="0">
                <a:cs typeface="Calibri"/>
              </a:rPr>
              <a:t>as a </a:t>
            </a:r>
            <a:r>
              <a:rPr lang="en-US" sz="3200" spc="-5" dirty="0">
                <a:cs typeface="Calibri"/>
              </a:rPr>
              <a:t>single </a:t>
            </a:r>
            <a:r>
              <a:rPr lang="en-US" sz="3200" dirty="0">
                <a:cs typeface="Calibri"/>
              </a:rPr>
              <a:t>unit, a </a:t>
            </a:r>
            <a:r>
              <a:rPr lang="en-US" sz="3200" spc="-20" dirty="0">
                <a:cs typeface="Calibri"/>
              </a:rPr>
              <a:t>collection.”</a:t>
            </a:r>
            <a:r>
              <a:rPr lang="en-US" sz="3200" spc="-165" dirty="0">
                <a:cs typeface="Calibri"/>
              </a:rPr>
              <a:t> </a:t>
            </a:r>
            <a:endParaRPr lang="en-US" sz="3200" dirty="0"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298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29126" y="1045562"/>
            <a:ext cx="2881531" cy="490027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</a:rPr>
              <a:t>Collection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4265" y="2619277"/>
            <a:ext cx="2112498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List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54574" y="2565488"/>
            <a:ext cx="1866314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Set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38926" y="2596312"/>
            <a:ext cx="2154702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Queue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17674" y="3374896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ArrayList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17675" y="4272211"/>
            <a:ext cx="2084432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LinkedList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17674" y="5078423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Vector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17674" y="6165995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Stack</a:t>
            </a:r>
            <a:endParaRPr lang="en-IN" sz="3200" b="1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520504" y="3113991"/>
            <a:ext cx="28136" cy="2808507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3" idx="1"/>
          </p:cNvCxnSpPr>
          <p:nvPr/>
        </p:nvCxnSpPr>
        <p:spPr>
          <a:xfrm>
            <a:off x="548640" y="3643529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48640" y="5348389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62708" y="4540844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Up Arrow 25"/>
          <p:cNvSpPr/>
          <p:nvPr/>
        </p:nvSpPr>
        <p:spPr>
          <a:xfrm>
            <a:off x="2267242" y="5603948"/>
            <a:ext cx="248530" cy="561374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8" name="Rounded Rectangle 27"/>
          <p:cNvSpPr/>
          <p:nvPr/>
        </p:nvSpPr>
        <p:spPr>
          <a:xfrm>
            <a:off x="3866406" y="5496575"/>
            <a:ext cx="2105465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SortedSet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9" name="Up Arrow 28"/>
          <p:cNvSpPr/>
          <p:nvPr/>
        </p:nvSpPr>
        <p:spPr>
          <a:xfrm>
            <a:off x="4221616" y="3051410"/>
            <a:ext cx="175847" cy="2436373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55" name="Straight Connector 54"/>
          <p:cNvCxnSpPr/>
          <p:nvPr/>
        </p:nvCxnSpPr>
        <p:spPr>
          <a:xfrm flipH="1">
            <a:off x="4621375" y="3091024"/>
            <a:ext cx="14068" cy="1941833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4694056" y="3864249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635443" y="4763911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463090" y="3524674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HashSet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420885" y="4453727"/>
            <a:ext cx="2929739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LinkedHashsSet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4742122" y="6075974"/>
            <a:ext cx="24621" cy="565887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4807771" y="6358917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585012" y="6111533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TreeSet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00056" y="4616701"/>
            <a:ext cx="2154702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Deque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30" name="Up Arrow 29"/>
          <p:cNvSpPr/>
          <p:nvPr/>
        </p:nvSpPr>
        <p:spPr>
          <a:xfrm>
            <a:off x="8552848" y="3112756"/>
            <a:ext cx="157260" cy="152340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1" name="Rounded Rectangle 30"/>
          <p:cNvSpPr/>
          <p:nvPr/>
        </p:nvSpPr>
        <p:spPr>
          <a:xfrm>
            <a:off x="9377534" y="3202586"/>
            <a:ext cx="2787572" cy="495355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PriorityQueue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62566" y="5439281"/>
            <a:ext cx="2429434" cy="396744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ArrayDeque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H="1">
            <a:off x="8877796" y="3122105"/>
            <a:ext cx="24621" cy="565887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996082" y="3388659"/>
            <a:ext cx="416859" cy="40341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>
            <a:off x="8437215" y="5500810"/>
            <a:ext cx="867193" cy="18392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32" idx="1"/>
          </p:cNvCxnSpPr>
          <p:nvPr/>
        </p:nvCxnSpPr>
        <p:spPr>
          <a:xfrm flipV="1">
            <a:off x="8906436" y="5637653"/>
            <a:ext cx="856130" cy="28043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739588" y="2017059"/>
            <a:ext cx="8525436" cy="268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6" idx="2"/>
          </p:cNvCxnSpPr>
          <p:nvPr/>
        </p:nvCxnSpPr>
        <p:spPr>
          <a:xfrm rot="5400000" flipH="1" flipV="1">
            <a:off x="5521882" y="1782496"/>
            <a:ext cx="494917" cy="110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77371" y="2265830"/>
            <a:ext cx="484094" cy="1344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>
            <a:off x="4112561" y="2283759"/>
            <a:ext cx="484094" cy="1344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>
            <a:off x="9025221" y="2247900"/>
            <a:ext cx="484094" cy="1344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422687" y="1012122"/>
            <a:ext cx="4150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spc="-10" dirty="0" smtClean="0">
                <a:cs typeface="Calibri"/>
              </a:rPr>
              <a:t>groups </a:t>
            </a:r>
            <a:r>
              <a:rPr lang="en-US" sz="2400" b="1" dirty="0" smtClean="0">
                <a:cs typeface="Calibri"/>
              </a:rPr>
              <a:t>elements</a:t>
            </a:r>
            <a:r>
              <a:rPr lang="en-US" sz="2400" b="1" spc="-235" dirty="0" smtClean="0">
                <a:cs typeface="Calibri"/>
              </a:rPr>
              <a:t> </a:t>
            </a:r>
            <a:r>
              <a:rPr lang="en-US" sz="2400" b="1" spc="-10" dirty="0" smtClean="0">
                <a:cs typeface="Calibri"/>
              </a:rPr>
              <a:t>into  </a:t>
            </a:r>
            <a:r>
              <a:rPr lang="en-US" sz="2400" b="1" dirty="0" smtClean="0">
                <a:cs typeface="Calibri"/>
              </a:rPr>
              <a:t>an</a:t>
            </a:r>
            <a:r>
              <a:rPr lang="en-US" sz="2400" b="1" spc="-35" dirty="0" smtClean="0">
                <a:cs typeface="Calibri"/>
              </a:rPr>
              <a:t> </a:t>
            </a:r>
            <a:r>
              <a:rPr lang="en-US" sz="2400" b="1" spc="-25" dirty="0" smtClean="0">
                <a:cs typeface="Calibri"/>
              </a:rPr>
              <a:t>entity.</a:t>
            </a:r>
            <a:endParaRPr lang="en-US" sz="2400" b="1" dirty="0"/>
          </a:p>
        </p:txBody>
      </p:sp>
      <p:sp>
        <p:nvSpPr>
          <p:cNvPr id="68" name="Rectangle 67"/>
          <p:cNvSpPr/>
          <p:nvPr/>
        </p:nvSpPr>
        <p:spPr>
          <a:xfrm>
            <a:off x="663298" y="1971346"/>
            <a:ext cx="42986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spc="-10" dirty="0" smtClean="0">
                <a:cs typeface="Calibri"/>
              </a:rPr>
              <a:t>Duplicate values are allowed.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spc="-10" dirty="0" smtClean="0">
                <a:cs typeface="Calibri"/>
              </a:rPr>
              <a:t>Insertion order is preserved</a:t>
            </a:r>
            <a:endParaRPr lang="en-US" sz="2000" b="1" dirty="0"/>
          </a:p>
        </p:txBody>
      </p:sp>
      <p:sp>
        <p:nvSpPr>
          <p:cNvPr id="69" name="Rectangle 68"/>
          <p:cNvSpPr/>
          <p:nvPr/>
        </p:nvSpPr>
        <p:spPr>
          <a:xfrm>
            <a:off x="4540533" y="1962382"/>
            <a:ext cx="42986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spc="-10" dirty="0" smtClean="0">
                <a:cs typeface="Calibri"/>
              </a:rPr>
              <a:t>Duplicate values are not allowed.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spc="-10" dirty="0" smtClean="0">
                <a:cs typeface="Calibri"/>
              </a:rPr>
              <a:t>Insertion order is not preserved</a:t>
            </a:r>
            <a:endParaRPr lang="en-US" sz="2000" b="1" dirty="0"/>
          </a:p>
        </p:txBody>
      </p:sp>
      <p:sp>
        <p:nvSpPr>
          <p:cNvPr id="70" name="Rectangle 69"/>
          <p:cNvSpPr/>
          <p:nvPr/>
        </p:nvSpPr>
        <p:spPr>
          <a:xfrm>
            <a:off x="9291827" y="1630688"/>
            <a:ext cx="42986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first-in-first-out order .</a:t>
            </a:r>
          </a:p>
          <a:p>
            <a:pPr>
              <a:buFont typeface="Wingdings" pitchFamily="2" charset="2"/>
              <a:buChar char="Ø"/>
            </a:pPr>
            <a:r>
              <a:rPr lang="en-IN" sz="2000" b="1" dirty="0" smtClean="0"/>
              <a:t>To hold Data Prior to </a:t>
            </a:r>
          </a:p>
          <a:p>
            <a:r>
              <a:rPr lang="en-IN" sz="2000" b="1" dirty="0" smtClean="0"/>
              <a:t>Processing</a:t>
            </a:r>
            <a:endParaRPr lang="en-US" sz="2000" b="1" dirty="0"/>
          </a:p>
        </p:txBody>
      </p:sp>
    </p:spTree>
    <p:extLst>
      <p:ext uri="{BB962C8B-B14F-4D97-AF65-F5344CB8AC3E}">
        <p14:creationId xmlns="" xmlns:p14="http://schemas.microsoft.com/office/powerpoint/2010/main" val="413711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26" grpId="0" animBg="1"/>
      <p:bldP spid="28" grpId="0" animBg="1"/>
      <p:bldP spid="29" grpId="0" animBg="1"/>
      <p:bldP spid="60" grpId="0" animBg="1"/>
      <p:bldP spid="62" grpId="0" animBg="1"/>
      <p:bldP spid="66" grpId="0" animBg="1"/>
      <p:bldP spid="27" grpId="0" animBg="1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08006" y="1261124"/>
            <a:ext cx="2112498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Map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98203" y="5297825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 err="1" smtClean="0">
                <a:solidFill>
                  <a:schemeClr val="bg1"/>
                </a:solidFill>
              </a:rPr>
              <a:t>TreeMap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99040" y="4412217"/>
            <a:ext cx="2453087" cy="494714"/>
          </a:xfrm>
          <a:prstGeom prst="roundRect">
            <a:avLst/>
          </a:prstGeom>
          <a:solidFill>
            <a:srgbClr val="FF000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solidFill>
                  <a:schemeClr val="bg1"/>
                </a:solidFill>
              </a:rPr>
              <a:t>SortedMap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7" name="Up Arrow 6"/>
          <p:cNvSpPr/>
          <p:nvPr/>
        </p:nvSpPr>
        <p:spPr>
          <a:xfrm>
            <a:off x="5337722" y="1773940"/>
            <a:ext cx="108337" cy="2582907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5898846" y="1840448"/>
            <a:ext cx="14068" cy="1941833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971527" y="2600226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912914" y="3499888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40561" y="2260651"/>
            <a:ext cx="2110153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smtClean="0">
                <a:solidFill>
                  <a:schemeClr val="bg1"/>
                </a:solidFill>
              </a:rPr>
              <a:t>HashMap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98356" y="3189704"/>
            <a:ext cx="3413832" cy="537266"/>
          </a:xfrm>
          <a:prstGeom prst="roundRect">
            <a:avLst/>
          </a:prstGeom>
          <a:solidFill>
            <a:srgbClr val="00B050">
              <a:alpha val="93000"/>
            </a:srgbClr>
          </a:solidFill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smtClean="0">
                <a:solidFill>
                  <a:schemeClr val="bg1"/>
                </a:solidFill>
              </a:rPr>
              <a:t>LinkedHashMap</a:t>
            </a:r>
            <a:endParaRPr lang="en-IN" sz="12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rot="16200000" flipH="1">
            <a:off x="5396612" y="5477293"/>
            <a:ext cx="1135009" cy="12756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16351" y="5589955"/>
            <a:ext cx="769034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046170" y="1227275"/>
            <a:ext cx="22726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spc="-10" dirty="0" smtClean="0">
                <a:cs typeface="Calibri"/>
              </a:rPr>
              <a:t>Key-Value Pair</a:t>
            </a:r>
            <a:r>
              <a:rPr lang="en-US" sz="2400" b="1" spc="-25" dirty="0" smtClean="0">
                <a:cs typeface="Calibri"/>
              </a:rPr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="" xmlns:p14="http://schemas.microsoft.com/office/powerpoint/2010/main" val="236958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11" grpId="0" animBg="1"/>
      <p:bldP spid="12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6975" y="1068946"/>
            <a:ext cx="9417963" cy="7325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Collection</a:t>
            </a:r>
            <a:r>
              <a:rPr lang="en-US" sz="3200" dirty="0" smtClean="0"/>
              <a:t>: Represents group of individual objects. 	</a:t>
            </a:r>
          </a:p>
          <a:p>
            <a:endParaRPr lang="en-US" sz="3200" dirty="0"/>
          </a:p>
          <a:p>
            <a:r>
              <a:rPr lang="en-US" sz="3600" b="1" dirty="0" smtClean="0">
                <a:solidFill>
                  <a:schemeClr val="accent2"/>
                </a:solidFill>
              </a:rPr>
              <a:t>Methods:</a:t>
            </a:r>
          </a:p>
          <a:p>
            <a:endParaRPr lang="en-US" sz="3200" dirty="0"/>
          </a:p>
          <a:p>
            <a:r>
              <a:rPr lang="en-US" sz="2200" dirty="0" err="1"/>
              <a:t>b</a:t>
            </a:r>
            <a:r>
              <a:rPr lang="en-US" sz="2200" dirty="0" err="1" smtClean="0"/>
              <a:t>oolean</a:t>
            </a:r>
            <a:r>
              <a:rPr lang="en-US" sz="2200" dirty="0" smtClean="0"/>
              <a:t> </a:t>
            </a:r>
            <a:r>
              <a:rPr lang="en-US" sz="2200" dirty="0" smtClean="0">
                <a:solidFill>
                  <a:schemeClr val="accent2"/>
                </a:solidFill>
              </a:rPr>
              <a:t>add</a:t>
            </a:r>
            <a:r>
              <a:rPr lang="en-US" sz="2200" dirty="0" smtClean="0"/>
              <a:t>(object o)</a:t>
            </a:r>
          </a:p>
          <a:p>
            <a:endParaRPr lang="en-US" sz="2200" dirty="0" smtClean="0"/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 smtClean="0">
                <a:solidFill>
                  <a:schemeClr val="accent2"/>
                </a:solidFill>
              </a:rPr>
              <a:t>addAll</a:t>
            </a:r>
            <a:r>
              <a:rPr lang="en-US" sz="2200" dirty="0" smtClean="0"/>
              <a:t>(Collection c)</a:t>
            </a:r>
            <a:endParaRPr lang="en-US" sz="2200" dirty="0"/>
          </a:p>
          <a:p>
            <a:endParaRPr lang="en-US" sz="2200" dirty="0" smtClean="0"/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smtClean="0">
                <a:solidFill>
                  <a:schemeClr val="accent2"/>
                </a:solidFill>
              </a:rPr>
              <a:t>remove</a:t>
            </a:r>
            <a:r>
              <a:rPr lang="en-US" sz="2200" dirty="0" smtClean="0"/>
              <a:t>(object </a:t>
            </a:r>
            <a:r>
              <a:rPr lang="en-US" sz="2200" dirty="0"/>
              <a:t>o</a:t>
            </a:r>
            <a:r>
              <a:rPr lang="en-US" sz="2200" dirty="0" smtClean="0"/>
              <a:t>)</a:t>
            </a:r>
          </a:p>
          <a:p>
            <a:endParaRPr lang="en-US" sz="2200" dirty="0" smtClean="0"/>
          </a:p>
          <a:p>
            <a:r>
              <a:rPr lang="en-US" sz="2200" dirty="0" err="1" smtClean="0"/>
              <a:t>boolean</a:t>
            </a:r>
            <a:r>
              <a:rPr lang="en-US" sz="2200" dirty="0" smtClean="0"/>
              <a:t> </a:t>
            </a:r>
            <a:r>
              <a:rPr lang="en-US" sz="2200" dirty="0" err="1" smtClean="0">
                <a:solidFill>
                  <a:schemeClr val="accent2"/>
                </a:solidFill>
              </a:rPr>
              <a:t>removeAll</a:t>
            </a:r>
            <a:r>
              <a:rPr lang="en-US" sz="2200" dirty="0" smtClean="0"/>
              <a:t>(Collection c)</a:t>
            </a:r>
          </a:p>
          <a:p>
            <a:endParaRPr lang="en-US" sz="2200" dirty="0"/>
          </a:p>
          <a:p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accent2"/>
                </a:solidFill>
              </a:rPr>
              <a:t>size</a:t>
            </a:r>
            <a:r>
              <a:rPr lang="en-US" sz="2200" dirty="0"/>
              <a:t>()</a:t>
            </a:r>
          </a:p>
          <a:p>
            <a:endParaRPr lang="en-US" sz="2200" dirty="0"/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 smtClean="0">
                <a:solidFill>
                  <a:schemeClr val="accent2"/>
                </a:solidFill>
              </a:rPr>
              <a:t>isEmpty</a:t>
            </a:r>
            <a:r>
              <a:rPr lang="en-US" sz="2200" dirty="0" smtClean="0"/>
              <a:t>()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697014" y="3076931"/>
            <a:ext cx="364003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void </a:t>
            </a:r>
            <a:r>
              <a:rPr lang="en-US" sz="2200" dirty="0">
                <a:solidFill>
                  <a:schemeClr val="accent2"/>
                </a:solidFill>
              </a:rPr>
              <a:t>clear</a:t>
            </a:r>
            <a:r>
              <a:rPr lang="en-US" sz="2200" dirty="0"/>
              <a:t>()</a:t>
            </a:r>
          </a:p>
          <a:p>
            <a:endParaRPr lang="en-US" sz="2200" dirty="0"/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>
                <a:solidFill>
                  <a:schemeClr val="accent2"/>
                </a:solidFill>
              </a:rPr>
              <a:t>retainAll</a:t>
            </a:r>
            <a:r>
              <a:rPr lang="en-US" sz="2200" dirty="0"/>
              <a:t>(Collection c)</a:t>
            </a:r>
          </a:p>
          <a:p>
            <a:endParaRPr lang="en-US" sz="2200" dirty="0"/>
          </a:p>
          <a:p>
            <a:r>
              <a:rPr lang="en-US" sz="2200" dirty="0"/>
              <a:t>Iterator </a:t>
            </a:r>
            <a:r>
              <a:rPr lang="en-US" sz="2200" dirty="0">
                <a:solidFill>
                  <a:schemeClr val="accent2"/>
                </a:solidFill>
              </a:rPr>
              <a:t>iterator</a:t>
            </a:r>
            <a:r>
              <a:rPr lang="en-US" sz="2200" dirty="0"/>
              <a:t>()</a:t>
            </a:r>
          </a:p>
          <a:p>
            <a:endParaRPr lang="en-US" sz="2200" dirty="0"/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accent2"/>
                </a:solidFill>
              </a:rPr>
              <a:t>contains</a:t>
            </a:r>
            <a:r>
              <a:rPr lang="en-US" sz="2200" dirty="0"/>
              <a:t>(Object o)</a:t>
            </a:r>
          </a:p>
          <a:p>
            <a:endParaRPr lang="en-US" sz="2200" dirty="0"/>
          </a:p>
          <a:p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>
                <a:solidFill>
                  <a:schemeClr val="accent2"/>
                </a:solidFill>
              </a:rPr>
              <a:t>containsAll</a:t>
            </a:r>
            <a:r>
              <a:rPr lang="en-US" sz="2200" dirty="0"/>
              <a:t>(Object o)</a:t>
            </a:r>
          </a:p>
          <a:p>
            <a:endParaRPr lang="en-US" sz="2200" dirty="0"/>
          </a:p>
          <a:p>
            <a:r>
              <a:rPr lang="en-US" sz="2200" dirty="0"/>
              <a:t>Object[] </a:t>
            </a:r>
            <a:r>
              <a:rPr lang="en-US" sz="2200" dirty="0" err="1">
                <a:solidFill>
                  <a:schemeClr val="accent2"/>
                </a:solidFill>
              </a:rPr>
              <a:t>toArray</a:t>
            </a:r>
            <a:r>
              <a:rPr lang="en-US" sz="2200" dirty="0"/>
              <a:t>()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="" xmlns:p14="http://schemas.microsoft.com/office/powerpoint/2010/main" val="134073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1216" y="1370355"/>
            <a:ext cx="1132053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inter-regular"/>
              </a:rPr>
              <a:t>List: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is the child interface of Collection interface.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inhibits a list type data structure in which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insertion ordered objects is preserved and duplicate values are allowed.</a:t>
            </a:r>
            <a:endParaRPr lang="en-IN" sz="2400" dirty="0"/>
          </a:p>
        </p:txBody>
      </p:sp>
      <p:sp>
        <p:nvSpPr>
          <p:cNvPr id="3" name="Rectangle 2"/>
          <p:cNvSpPr/>
          <p:nvPr/>
        </p:nvSpPr>
        <p:spPr>
          <a:xfrm>
            <a:off x="3474683" y="2360378"/>
            <a:ext cx="6096000" cy="47705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Methods:</a:t>
            </a:r>
          </a:p>
          <a:p>
            <a:endParaRPr lang="en-US" sz="2400" dirty="0"/>
          </a:p>
          <a:p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smtClean="0">
                <a:solidFill>
                  <a:schemeClr val="accent2"/>
                </a:solidFill>
              </a:rPr>
              <a:t>add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index, object </a:t>
            </a:r>
            <a:r>
              <a:rPr lang="en-US" dirty="0"/>
              <a:t>o)</a:t>
            </a:r>
          </a:p>
          <a:p>
            <a:endParaRPr lang="en-US" dirty="0"/>
          </a:p>
          <a:p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addAll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index,Collection</a:t>
            </a:r>
            <a:r>
              <a:rPr lang="en-US" dirty="0" smtClean="0"/>
              <a:t> </a:t>
            </a:r>
            <a:r>
              <a:rPr lang="en-US" dirty="0"/>
              <a:t>c)</a:t>
            </a:r>
          </a:p>
          <a:p>
            <a:endParaRPr lang="en-US" dirty="0"/>
          </a:p>
          <a:p>
            <a:r>
              <a:rPr lang="en-US" dirty="0" smtClean="0"/>
              <a:t>object </a:t>
            </a:r>
            <a:r>
              <a:rPr lang="en-US" dirty="0" smtClean="0">
                <a:solidFill>
                  <a:schemeClr val="accent2"/>
                </a:solidFill>
              </a:rPr>
              <a:t>remove</a:t>
            </a:r>
            <a:r>
              <a:rPr lang="en-US" dirty="0" smtClean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index,</a:t>
            </a:r>
            <a:r>
              <a:rPr lang="en-US" dirty="0" err="1" smtClean="0"/>
              <a:t>object</a:t>
            </a:r>
            <a:r>
              <a:rPr lang="en-US" dirty="0" smtClean="0"/>
              <a:t> </a:t>
            </a:r>
            <a:r>
              <a:rPr lang="en-US" dirty="0"/>
              <a:t>o)</a:t>
            </a:r>
          </a:p>
          <a:p>
            <a:endParaRPr lang="en-US" dirty="0"/>
          </a:p>
          <a:p>
            <a:r>
              <a:rPr lang="en-US" dirty="0" smtClean="0"/>
              <a:t>object </a:t>
            </a:r>
            <a:r>
              <a:rPr lang="en-US" dirty="0" smtClean="0">
                <a:solidFill>
                  <a:schemeClr val="accent2"/>
                </a:solidFill>
              </a:rPr>
              <a:t>get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index)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object </a:t>
            </a:r>
            <a:r>
              <a:rPr lang="en-US" dirty="0" smtClean="0">
                <a:solidFill>
                  <a:schemeClr val="accent2"/>
                </a:solidFill>
              </a:rPr>
              <a:t>set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index,Object</a:t>
            </a:r>
            <a:r>
              <a:rPr lang="en-US" dirty="0" smtClean="0"/>
              <a:t> o)</a:t>
            </a:r>
            <a:endParaRPr lang="en-US" dirty="0"/>
          </a:p>
          <a:p>
            <a:endParaRPr lang="en-US" dirty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indexOf</a:t>
            </a:r>
            <a:r>
              <a:rPr lang="en-US" dirty="0" smtClean="0"/>
              <a:t>(object o)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accent2"/>
                </a:solidFill>
              </a:rPr>
              <a:t>LastIndexOf</a:t>
            </a:r>
            <a:r>
              <a:rPr lang="en-US" dirty="0" smtClean="0"/>
              <a:t>(object </a:t>
            </a:r>
            <a:r>
              <a:rPr lang="en-US" dirty="0"/>
              <a:t>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54331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1216" y="1370355"/>
            <a:ext cx="1132053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ArrayList 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/>
              <a:t>The ArrayList class implements the List interface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uses a dynamic array to store the duplicate element of different data types. 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preserves insertion </a:t>
            </a:r>
            <a:r>
              <a:rPr lang="en-US" sz="2400" dirty="0"/>
              <a:t>order and is non-synchronized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 ArrayList </a:t>
            </a:r>
            <a:r>
              <a:rPr lang="en-US" sz="2400" dirty="0"/>
              <a:t>class </a:t>
            </a:r>
            <a:r>
              <a:rPr lang="en-US" sz="2400" dirty="0" smtClean="0"/>
              <a:t>elements can </a:t>
            </a:r>
            <a:r>
              <a:rPr lang="en-US" sz="2400" dirty="0"/>
              <a:t>be randomly accessed. 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1082681" y="3760357"/>
            <a:ext cx="2757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3200" b="1" dirty="0">
                <a:solidFill>
                  <a:srgbClr val="00B050"/>
                </a:solidFill>
                <a:latin typeface="inter-regular"/>
              </a:rPr>
              <a:t>Constructors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2681" y="4533114"/>
            <a:ext cx="398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i="1" dirty="0">
                <a:solidFill>
                  <a:srgbClr val="273239"/>
                </a:solidFill>
              </a:rPr>
              <a:t>ArrayList </a:t>
            </a:r>
            <a:r>
              <a:rPr lang="en-IN" sz="2400" i="1" dirty="0" err="1">
                <a:solidFill>
                  <a:srgbClr val="273239"/>
                </a:solidFill>
              </a:rPr>
              <a:t>arr</a:t>
            </a:r>
            <a:r>
              <a:rPr lang="en-IN" sz="2400" i="1" dirty="0">
                <a:solidFill>
                  <a:srgbClr val="273239"/>
                </a:solidFill>
              </a:rPr>
              <a:t> = new ArrayList();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1082681" y="5168070"/>
            <a:ext cx="4116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i="1" dirty="0">
                <a:solidFill>
                  <a:srgbClr val="273239"/>
                </a:solidFill>
              </a:rPr>
              <a:t>ArrayList </a:t>
            </a:r>
            <a:r>
              <a:rPr lang="en-IN" sz="2400" i="1" dirty="0" err="1">
                <a:solidFill>
                  <a:srgbClr val="273239"/>
                </a:solidFill>
              </a:rPr>
              <a:t>arr</a:t>
            </a:r>
            <a:r>
              <a:rPr lang="en-IN" sz="2400" i="1" dirty="0">
                <a:solidFill>
                  <a:srgbClr val="273239"/>
                </a:solidFill>
              </a:rPr>
              <a:t> = new ArrayList(c);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1031385" y="5817717"/>
            <a:ext cx="4186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i="1" dirty="0">
                <a:solidFill>
                  <a:srgbClr val="273239"/>
                </a:solidFill>
              </a:rPr>
              <a:t>ArrayList </a:t>
            </a:r>
            <a:r>
              <a:rPr lang="en-IN" sz="2400" i="1" dirty="0" err="1">
                <a:solidFill>
                  <a:srgbClr val="273239"/>
                </a:solidFill>
              </a:rPr>
              <a:t>arr</a:t>
            </a:r>
            <a:r>
              <a:rPr lang="en-IN" sz="2400" i="1" dirty="0">
                <a:solidFill>
                  <a:srgbClr val="273239"/>
                </a:solidFill>
              </a:rPr>
              <a:t> = new ArrayList(N);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277896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7397" y="1337162"/>
            <a:ext cx="11057205" cy="4944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600" b="1" spc="-5" dirty="0" err="1" smtClean="0">
                <a:solidFill>
                  <a:srgbClr val="FF0000"/>
                </a:solidFill>
                <a:cs typeface="Calibri"/>
              </a:rPr>
              <a:t>Iterator</a:t>
            </a:r>
            <a:r>
              <a:rPr lang="en-US" sz="3600" b="1" spc="-5" dirty="0" smtClean="0">
                <a:solidFill>
                  <a:srgbClr val="FF0000"/>
                </a:solidFill>
                <a:cs typeface="Calibri"/>
              </a:rPr>
              <a:t>:</a:t>
            </a:r>
            <a:r>
              <a:rPr lang="en-US" sz="3200" spc="-5" dirty="0" smtClean="0">
                <a:cs typeface="Calibri"/>
              </a:rPr>
              <a:t> </a:t>
            </a:r>
            <a:r>
              <a:rPr lang="en-US" sz="3200" dirty="0" err="1" smtClean="0"/>
              <a:t>Iterator</a:t>
            </a:r>
            <a:r>
              <a:rPr lang="en-US" sz="3200" dirty="0" smtClean="0"/>
              <a:t> interface provides the facility of iterating the elements in a forward direction only.</a:t>
            </a:r>
          </a:p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200" b="1" dirty="0" smtClean="0">
                <a:solidFill>
                  <a:srgbClr val="00B050"/>
                </a:solidFill>
              </a:rPr>
              <a:t>public </a:t>
            </a:r>
            <a:r>
              <a:rPr lang="en-US" sz="3200" b="1" dirty="0" err="1" smtClean="0">
                <a:solidFill>
                  <a:srgbClr val="00B050"/>
                </a:solidFill>
              </a:rPr>
              <a:t>boolean</a:t>
            </a:r>
            <a:r>
              <a:rPr lang="en-US" sz="3200" b="1" dirty="0" smtClean="0">
                <a:solidFill>
                  <a:srgbClr val="00B050"/>
                </a:solidFill>
              </a:rPr>
              <a:t> </a:t>
            </a:r>
            <a:r>
              <a:rPr lang="en-US" sz="3200" b="1" dirty="0" err="1" smtClean="0">
                <a:solidFill>
                  <a:srgbClr val="00B050"/>
                </a:solidFill>
              </a:rPr>
              <a:t>hasNext</a:t>
            </a:r>
            <a:r>
              <a:rPr lang="en-US" sz="3200" b="1" dirty="0" smtClean="0">
                <a:solidFill>
                  <a:srgbClr val="00B050"/>
                </a:solidFill>
              </a:rPr>
              <a:t>():</a:t>
            </a:r>
            <a:r>
              <a:rPr lang="en-US" sz="3200" dirty="0" smtClean="0"/>
              <a:t>It returns true if the </a:t>
            </a:r>
            <a:r>
              <a:rPr lang="en-US" sz="3200" dirty="0" err="1" smtClean="0"/>
              <a:t>iterator</a:t>
            </a:r>
            <a:r>
              <a:rPr lang="en-US" sz="3200" dirty="0" smtClean="0"/>
              <a:t> has more elements otherwise it returns false.</a:t>
            </a:r>
          </a:p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200" b="1" dirty="0" smtClean="0">
                <a:solidFill>
                  <a:srgbClr val="00B050"/>
                </a:solidFill>
              </a:rPr>
              <a:t>public Object next():</a:t>
            </a:r>
            <a:r>
              <a:rPr lang="en-US" sz="3200" dirty="0" smtClean="0"/>
              <a:t>It returns the element and moves the cursor pointer to the next element.</a:t>
            </a:r>
          </a:p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lang="en-US" sz="3200" b="1" dirty="0" smtClean="0">
                <a:solidFill>
                  <a:srgbClr val="00B050"/>
                </a:solidFill>
              </a:rPr>
              <a:t>public void remove():</a:t>
            </a:r>
            <a:r>
              <a:rPr lang="en-US" sz="3200" dirty="0" smtClean="0"/>
              <a:t>It removes the last elements returned by the </a:t>
            </a:r>
            <a:r>
              <a:rPr lang="en-US" sz="3200" dirty="0" err="1" smtClean="0"/>
              <a:t>iterator</a:t>
            </a:r>
            <a:r>
              <a:rPr lang="en-US" sz="3200" dirty="0" smtClean="0"/>
              <a:t>. It is less used.</a:t>
            </a:r>
            <a:endParaRPr lang="en-US" sz="3200" spc="-25" dirty="0" smtClean="0">
              <a:cs typeface="Calibri"/>
            </a:endParaRPr>
          </a:p>
          <a:p>
            <a:pPr marL="356870" marR="336550" indent="-344805" algn="just">
              <a:spcBef>
                <a:spcPts val="650"/>
              </a:spcBef>
              <a:buFont typeface="Arial"/>
              <a:buChar char="•"/>
              <a:tabLst>
                <a:tab pos="356870" algn="l"/>
                <a:tab pos="357505" algn="l"/>
              </a:tabLst>
            </a:pPr>
            <a:endParaRPr lang="en-US" sz="3200" dirty="0"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5790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9588" y="1163791"/>
            <a:ext cx="99239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import</a:t>
            </a:r>
            <a:r>
              <a:rPr lang="en-US" sz="2400" dirty="0" smtClean="0"/>
              <a:t> 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.*;  </a:t>
            </a:r>
          </a:p>
          <a:p>
            <a:r>
              <a:rPr lang="en-US" sz="2400" b="1" dirty="0" smtClean="0"/>
              <a:t>class</a:t>
            </a:r>
            <a:r>
              <a:rPr lang="en-US" sz="2400" dirty="0" smtClean="0"/>
              <a:t> </a:t>
            </a:r>
            <a:r>
              <a:rPr lang="en-US" sz="2400" dirty="0" err="1" smtClean="0"/>
              <a:t>ArrayListIterator</a:t>
            </a:r>
            <a:r>
              <a:rPr lang="en-US" sz="2400" dirty="0" smtClean="0"/>
              <a:t>{  </a:t>
            </a:r>
          </a:p>
          <a:p>
            <a:r>
              <a:rPr lang="en-US" sz="2400" b="1" dirty="0" smtClean="0"/>
              <a:t>public</a:t>
            </a:r>
            <a:r>
              <a:rPr lang="en-US" sz="2400" dirty="0" smtClean="0"/>
              <a:t> </a:t>
            </a:r>
            <a:r>
              <a:rPr lang="en-US" sz="2400" b="1" dirty="0" smtClean="0"/>
              <a:t>static</a:t>
            </a:r>
            <a:r>
              <a:rPr lang="en-US" sz="2400" dirty="0" smtClean="0"/>
              <a:t> </a:t>
            </a:r>
            <a:r>
              <a:rPr lang="en-US" sz="2400" b="1" dirty="0" smtClean="0"/>
              <a:t>void</a:t>
            </a:r>
            <a:r>
              <a:rPr lang="en-US" sz="2400" dirty="0" smtClean="0"/>
              <a:t> main(String </a:t>
            </a:r>
            <a:r>
              <a:rPr lang="en-US" sz="2400" dirty="0" err="1" smtClean="0"/>
              <a:t>args</a:t>
            </a:r>
            <a:r>
              <a:rPr lang="en-US" sz="2400" dirty="0" smtClean="0"/>
              <a:t>[]){  </a:t>
            </a:r>
          </a:p>
          <a:p>
            <a:r>
              <a:rPr lang="en-US" sz="2400" dirty="0" err="1" smtClean="0"/>
              <a:t>ArrayList</a:t>
            </a:r>
            <a:r>
              <a:rPr lang="en-US" sz="2400" dirty="0" smtClean="0"/>
              <a:t>&lt;String&gt; list=</a:t>
            </a:r>
            <a:r>
              <a:rPr lang="en-US" sz="2400" b="1" dirty="0" smtClean="0"/>
              <a:t>new</a:t>
            </a:r>
            <a:r>
              <a:rPr lang="en-US" sz="2400" dirty="0" smtClean="0"/>
              <a:t> 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&lt;String&gt;();//Creating 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  </a:t>
            </a:r>
          </a:p>
          <a:p>
            <a:r>
              <a:rPr lang="en-US" sz="2400" dirty="0" err="1" smtClean="0"/>
              <a:t>list.add</a:t>
            </a:r>
            <a:r>
              <a:rPr lang="en-US" sz="2400" dirty="0" smtClean="0"/>
              <a:t>(“</a:t>
            </a:r>
            <a:r>
              <a:rPr lang="en-US" sz="2400" dirty="0" err="1" smtClean="0"/>
              <a:t>Durga</a:t>
            </a:r>
            <a:r>
              <a:rPr lang="en-US" sz="2400" dirty="0" smtClean="0"/>
              <a:t>");//Adding object in 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  </a:t>
            </a:r>
          </a:p>
          <a:p>
            <a:r>
              <a:rPr lang="en-US" sz="2400" dirty="0" err="1" smtClean="0"/>
              <a:t>list.add</a:t>
            </a:r>
            <a:r>
              <a:rPr lang="en-US" sz="2400" dirty="0" smtClean="0"/>
              <a:t>(“</a:t>
            </a:r>
            <a:r>
              <a:rPr lang="en-US" sz="2400" dirty="0" err="1" smtClean="0"/>
              <a:t>Madhu</a:t>
            </a:r>
            <a:r>
              <a:rPr lang="en-US" sz="2400" dirty="0" smtClean="0"/>
              <a:t>");  </a:t>
            </a:r>
          </a:p>
          <a:p>
            <a:r>
              <a:rPr lang="en-US" sz="2400" dirty="0" err="1" smtClean="0"/>
              <a:t>list.add</a:t>
            </a:r>
            <a:r>
              <a:rPr lang="en-US" sz="2400" dirty="0" smtClean="0"/>
              <a:t>(“</a:t>
            </a:r>
            <a:r>
              <a:rPr lang="en-US" sz="2400" dirty="0" err="1" smtClean="0"/>
              <a:t>Naveen</a:t>
            </a:r>
            <a:r>
              <a:rPr lang="en-US" sz="2400" dirty="0" smtClean="0"/>
              <a:t>");  </a:t>
            </a:r>
          </a:p>
          <a:p>
            <a:r>
              <a:rPr lang="en-US" sz="2400" dirty="0" smtClean="0"/>
              <a:t>//Traversing list through </a:t>
            </a:r>
            <a:r>
              <a:rPr lang="en-US" sz="2400" dirty="0" err="1" smtClean="0"/>
              <a:t>Iterator</a:t>
            </a:r>
            <a:r>
              <a:rPr lang="en-US" sz="2400" dirty="0" smtClean="0"/>
              <a:t>  </a:t>
            </a:r>
          </a:p>
          <a:p>
            <a:r>
              <a:rPr lang="en-US" sz="2400" dirty="0" err="1" smtClean="0"/>
              <a:t>Iterator</a:t>
            </a:r>
            <a:r>
              <a:rPr lang="en-US" sz="2400" dirty="0" smtClean="0"/>
              <a:t> </a:t>
            </a:r>
            <a:r>
              <a:rPr lang="en-US" sz="2400" dirty="0" err="1" smtClean="0"/>
              <a:t>itr</a:t>
            </a:r>
            <a:r>
              <a:rPr lang="en-US" sz="2400" dirty="0" smtClean="0"/>
              <a:t>=</a:t>
            </a:r>
            <a:r>
              <a:rPr lang="en-US" sz="2400" dirty="0" err="1" smtClean="0"/>
              <a:t>list.iterator</a:t>
            </a:r>
            <a:r>
              <a:rPr lang="en-US" sz="2400" dirty="0" smtClean="0"/>
              <a:t>();  </a:t>
            </a:r>
          </a:p>
          <a:p>
            <a:r>
              <a:rPr lang="en-US" sz="2400" b="1" dirty="0" smtClean="0"/>
              <a:t>while</a:t>
            </a:r>
            <a:r>
              <a:rPr lang="en-US" sz="2400" dirty="0" smtClean="0"/>
              <a:t>(</a:t>
            </a:r>
            <a:r>
              <a:rPr lang="en-US" sz="2400" dirty="0" err="1" smtClean="0"/>
              <a:t>itr.hasNext</a:t>
            </a:r>
            <a:r>
              <a:rPr lang="en-US" sz="2400" dirty="0" smtClean="0"/>
              <a:t>()){  </a:t>
            </a:r>
          </a:p>
          <a:p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itr.next</a:t>
            </a:r>
            <a:r>
              <a:rPr lang="en-US" sz="2400" dirty="0" smtClean="0"/>
              <a:t>());  </a:t>
            </a:r>
          </a:p>
          <a:p>
            <a:r>
              <a:rPr lang="en-US" sz="2400" dirty="0" smtClean="0"/>
              <a:t>}  </a:t>
            </a:r>
          </a:p>
          <a:p>
            <a:r>
              <a:rPr lang="en-US" sz="2400" dirty="0" smtClean="0"/>
              <a:t>}  </a:t>
            </a:r>
          </a:p>
          <a:p>
            <a:r>
              <a:rPr lang="en-US" sz="2400" dirty="0" smtClean="0"/>
              <a:t>}  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5836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1459" y="1072308"/>
            <a:ext cx="1132053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inter-regular"/>
              </a:rPr>
              <a:t>LinkedList</a:t>
            </a:r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 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/>
              <a:t>The </a:t>
            </a:r>
            <a:r>
              <a:rPr lang="en-US" sz="2400" dirty="0" err="1" smtClean="0"/>
              <a:t>LinkedList</a:t>
            </a:r>
            <a:r>
              <a:rPr lang="en-US" sz="2400" dirty="0" smtClean="0"/>
              <a:t> </a:t>
            </a:r>
            <a:r>
              <a:rPr lang="en-US" sz="2400" dirty="0"/>
              <a:t>class implements the List interface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uses doubly linked list to </a:t>
            </a:r>
            <a:r>
              <a:rPr lang="en-US" sz="2400" dirty="0" err="1" smtClean="0"/>
              <a:t>storer</a:t>
            </a:r>
            <a:r>
              <a:rPr lang="en-US" sz="2400" dirty="0" smtClean="0"/>
              <a:t> elements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It uses a dynamic array to store the duplicate element of different data types. 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preserves insertion </a:t>
            </a:r>
            <a:r>
              <a:rPr lang="en-US" sz="2400" dirty="0"/>
              <a:t>order and is non-synchronized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 err="1" smtClean="0"/>
              <a:t>LinkedList</a:t>
            </a:r>
            <a:r>
              <a:rPr lang="en-US" sz="2400" dirty="0" smtClean="0"/>
              <a:t> </a:t>
            </a:r>
            <a:r>
              <a:rPr lang="en-US" sz="2400" dirty="0"/>
              <a:t>class </a:t>
            </a:r>
            <a:r>
              <a:rPr lang="en-US" sz="2400" dirty="0" smtClean="0"/>
              <a:t>elements can </a:t>
            </a:r>
            <a:r>
              <a:rPr lang="en-US" sz="2400" dirty="0"/>
              <a:t>be randomly accessed. 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681459" y="4455401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1459" y="4983688"/>
            <a:ext cx="4603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 smtClean="0">
                <a:solidFill>
                  <a:srgbClr val="273239"/>
                </a:solidFill>
              </a:rPr>
              <a:t>LinkedList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 err="1" smtClean="0">
                <a:solidFill>
                  <a:srgbClr val="273239"/>
                </a:solidFill>
              </a:rPr>
              <a:t>ll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00B050"/>
                </a:solidFill>
              </a:rPr>
              <a:t>Linked</a:t>
            </a:r>
            <a:r>
              <a:rPr lang="en-IN" sz="2800" i="1" dirty="0" err="1" smtClean="0">
                <a:solidFill>
                  <a:srgbClr val="00B050"/>
                </a:solidFill>
              </a:rPr>
              <a:t>List</a:t>
            </a:r>
            <a:r>
              <a:rPr lang="en-IN" sz="2800" i="1" dirty="0">
                <a:solidFill>
                  <a:srgbClr val="273239"/>
                </a:solidFill>
              </a:rPr>
              <a:t>();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681459" y="5618644"/>
            <a:ext cx="4752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Linked</a:t>
            </a:r>
            <a:r>
              <a:rPr lang="en-IN" sz="2800" i="1" dirty="0" err="1" smtClean="0">
                <a:solidFill>
                  <a:srgbClr val="273239"/>
                </a:solidFill>
              </a:rPr>
              <a:t>List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 err="1">
                <a:solidFill>
                  <a:srgbClr val="273239"/>
                </a:solidFill>
              </a:rPr>
              <a:t>ll</a:t>
            </a:r>
            <a:r>
              <a:rPr lang="en-IN" sz="2800" i="1" dirty="0">
                <a:solidFill>
                  <a:srgbClr val="273239"/>
                </a:solidFill>
              </a:rPr>
              <a:t> = new </a:t>
            </a:r>
            <a:r>
              <a:rPr lang="en-IN" sz="2800" i="1" dirty="0" err="1">
                <a:solidFill>
                  <a:srgbClr val="00B050"/>
                </a:solidFill>
              </a:rPr>
              <a:t>Linked</a:t>
            </a:r>
            <a:r>
              <a:rPr lang="en-IN" sz="2800" i="1" dirty="0" err="1" smtClean="0">
                <a:solidFill>
                  <a:srgbClr val="00B050"/>
                </a:solidFill>
              </a:rPr>
              <a:t>List</a:t>
            </a:r>
            <a:r>
              <a:rPr lang="en-IN" sz="2800" i="1" dirty="0" smtClean="0">
                <a:solidFill>
                  <a:srgbClr val="273239"/>
                </a:solidFill>
              </a:rPr>
              <a:t>(c</a:t>
            </a:r>
            <a:r>
              <a:rPr lang="en-IN" sz="2800" i="1" dirty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9385168" y="2635384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7896" y="3033151"/>
            <a:ext cx="2809808" cy="4385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/>
              <a:t>addFirst</a:t>
            </a:r>
            <a:r>
              <a:rPr lang="en-US" sz="2800" dirty="0" smtClean="0"/>
              <a:t>(Object o)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addLast</a:t>
            </a:r>
            <a:r>
              <a:rPr lang="en-US" sz="2800" dirty="0" smtClean="0"/>
              <a:t>(Object o)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removeFirst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removeLast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getFirst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getLast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6268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1459" y="1072308"/>
            <a:ext cx="1132053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Vector :</a:t>
            </a:r>
            <a:r>
              <a:rPr lang="en-US" sz="2400" i="1" dirty="0"/>
              <a:t> It </a:t>
            </a:r>
            <a:r>
              <a:rPr lang="en-US" sz="2400" i="1" dirty="0" smtClean="0"/>
              <a:t>creates dynamic </a:t>
            </a:r>
            <a:r>
              <a:rPr lang="en-US" sz="2400" i="1" dirty="0"/>
              <a:t>array</a:t>
            </a:r>
            <a:r>
              <a:rPr lang="en-US" sz="2400" dirty="0"/>
              <a:t> which can grow or shrink its size</a:t>
            </a:r>
            <a:r>
              <a:rPr lang="en-US" sz="24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stores </a:t>
            </a:r>
            <a:r>
              <a:rPr lang="en-US" sz="2400" dirty="0"/>
              <a:t>the duplicate </a:t>
            </a:r>
            <a:r>
              <a:rPr lang="en-US" sz="2400" dirty="0" smtClean="0"/>
              <a:t>element and preserves insertion </a:t>
            </a:r>
            <a:r>
              <a:rPr lang="en-US" sz="2400" dirty="0"/>
              <a:t>order 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is Thread safe as every method is  synchronized.</a:t>
            </a:r>
          </a:p>
        </p:txBody>
      </p:sp>
      <p:sp>
        <p:nvSpPr>
          <p:cNvPr id="2" name="Rectangle 1"/>
          <p:cNvSpPr/>
          <p:nvPr/>
        </p:nvSpPr>
        <p:spPr>
          <a:xfrm>
            <a:off x="681459" y="3689717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8428" y="4266714"/>
            <a:ext cx="36358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smtClean="0">
                <a:solidFill>
                  <a:srgbClr val="273239"/>
                </a:solidFill>
              </a:rPr>
              <a:t>Vector v </a:t>
            </a:r>
            <a:r>
              <a:rPr lang="en-IN" sz="2800" i="1" dirty="0">
                <a:solidFill>
                  <a:srgbClr val="273239"/>
                </a:solidFill>
              </a:rPr>
              <a:t>= new Vector();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578428" y="4901670"/>
            <a:ext cx="5577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>
                <a:solidFill>
                  <a:srgbClr val="273239"/>
                </a:solidFill>
              </a:rPr>
              <a:t>Vector v = new </a:t>
            </a:r>
            <a:r>
              <a:rPr lang="en-IN" sz="2800" i="1" dirty="0" smtClean="0">
                <a:solidFill>
                  <a:srgbClr val="273239"/>
                </a:solidFill>
              </a:rPr>
              <a:t>Vector(</a:t>
            </a:r>
            <a:r>
              <a:rPr lang="en-IN" sz="2800" i="1" dirty="0" err="1" smtClean="0">
                <a:solidFill>
                  <a:srgbClr val="273239"/>
                </a:solidFill>
              </a:rPr>
              <a:t>intialcapacity</a:t>
            </a:r>
            <a:r>
              <a:rPr lang="en-IN" sz="2800" i="1" dirty="0" smtClean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9385168" y="2635384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2823" y="2970372"/>
            <a:ext cx="4019177" cy="37394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/>
              <a:t>addElement</a:t>
            </a:r>
            <a:r>
              <a:rPr lang="en-US" sz="2800" dirty="0" smtClean="0"/>
              <a:t>(Object o)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removeElement</a:t>
            </a:r>
            <a:r>
              <a:rPr lang="en-US" sz="2800" dirty="0" smtClean="0"/>
              <a:t>(Object o)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removeElement</a:t>
            </a:r>
            <a:r>
              <a:rPr lang="en-US" sz="2800" dirty="0"/>
              <a:t> </a:t>
            </a:r>
            <a:r>
              <a:rPr lang="en-US" sz="2800" dirty="0" smtClean="0"/>
              <a:t>At(</a:t>
            </a:r>
            <a:r>
              <a:rPr lang="en-US" sz="2800" dirty="0" err="1" smtClean="0"/>
              <a:t>intdex</a:t>
            </a:r>
            <a:r>
              <a:rPr lang="en-US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f</a:t>
            </a:r>
            <a:r>
              <a:rPr lang="en-US" sz="2800" dirty="0" err="1" smtClean="0"/>
              <a:t>irstElement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lastElement</a:t>
            </a:r>
            <a:r>
              <a:rPr lang="en-US" sz="2800" dirty="0"/>
              <a:t> ()</a:t>
            </a:r>
            <a:endParaRPr lang="en-US" sz="2800" dirty="0" smtClean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78428" y="5594051"/>
            <a:ext cx="74643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>
                <a:solidFill>
                  <a:srgbClr val="273239"/>
                </a:solidFill>
              </a:rPr>
              <a:t>Vector v = new </a:t>
            </a:r>
            <a:r>
              <a:rPr lang="en-IN" sz="2800" i="1" dirty="0" smtClean="0">
                <a:solidFill>
                  <a:srgbClr val="273239"/>
                </a:solidFill>
              </a:rPr>
              <a:t>Vector(</a:t>
            </a:r>
            <a:r>
              <a:rPr lang="en-IN" sz="2800" i="1" dirty="0" err="1" smtClean="0">
                <a:solidFill>
                  <a:srgbClr val="273239"/>
                </a:solidFill>
              </a:rPr>
              <a:t>initialcapacity,increament</a:t>
            </a:r>
            <a:r>
              <a:rPr lang="en-IN" sz="2800" i="1" dirty="0" smtClean="0">
                <a:solidFill>
                  <a:srgbClr val="273239"/>
                </a:solidFill>
              </a:rPr>
              <a:t> );</a:t>
            </a:r>
            <a:endParaRPr lang="en-IN" sz="2800" dirty="0"/>
          </a:p>
        </p:txBody>
      </p:sp>
      <p:sp>
        <p:nvSpPr>
          <p:cNvPr id="11" name="Rectangle 10"/>
          <p:cNvSpPr/>
          <p:nvPr/>
        </p:nvSpPr>
        <p:spPr>
          <a:xfrm>
            <a:off x="578428" y="6157197"/>
            <a:ext cx="5293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>
                <a:solidFill>
                  <a:srgbClr val="273239"/>
                </a:solidFill>
              </a:rPr>
              <a:t>Vector v = new Vector(Collection </a:t>
            </a:r>
            <a:r>
              <a:rPr lang="en-IN" sz="2800" i="1" dirty="0" smtClean="0">
                <a:solidFill>
                  <a:srgbClr val="273239"/>
                </a:solidFill>
              </a:rPr>
              <a:t>c</a:t>
            </a:r>
            <a:r>
              <a:rPr lang="en-IN" sz="2800" i="1" dirty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48247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1459" y="1072308"/>
            <a:ext cx="1132053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Stack :</a:t>
            </a:r>
            <a:r>
              <a:rPr lang="en-US" sz="2400" i="1" dirty="0"/>
              <a:t> </a:t>
            </a:r>
            <a:r>
              <a:rPr lang="en-US" sz="2400" i="1" dirty="0" smtClean="0"/>
              <a:t>It is child class of </a:t>
            </a:r>
            <a:r>
              <a:rPr lang="en-US" sz="2400" b="1" i="1" dirty="0" smtClean="0"/>
              <a:t>Vector</a:t>
            </a:r>
            <a:r>
              <a:rPr lang="en-US" sz="2400" i="1" dirty="0" smtClean="0"/>
              <a:t> class which is used </a:t>
            </a:r>
            <a:r>
              <a:rPr lang="en-US" sz="2400" i="1" dirty="0"/>
              <a:t>to implement stack data structure.</a:t>
            </a:r>
          </a:p>
          <a:p>
            <a:r>
              <a:rPr lang="en-US" sz="2400" i="1" dirty="0"/>
              <a:t>It is based on Last-In-First-Out (LIFO). </a:t>
            </a:r>
            <a:endParaRPr lang="en-US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It stores </a:t>
            </a:r>
            <a:r>
              <a:rPr lang="en-US" sz="2400" dirty="0"/>
              <a:t>the duplicate </a:t>
            </a:r>
            <a:r>
              <a:rPr lang="en-US" sz="2400" dirty="0" smtClean="0"/>
              <a:t>element and preserves insertion </a:t>
            </a:r>
            <a:r>
              <a:rPr lang="en-US" sz="2400" dirty="0"/>
              <a:t>order </a:t>
            </a:r>
            <a:endParaRPr lang="en-US" sz="24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681459" y="3689717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8428" y="4266714"/>
            <a:ext cx="34195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smtClean="0">
                <a:solidFill>
                  <a:srgbClr val="273239"/>
                </a:solidFill>
              </a:rPr>
              <a:t>Stack </a:t>
            </a:r>
            <a:r>
              <a:rPr lang="en-IN" sz="2800" i="1" dirty="0" err="1" smtClean="0">
                <a:solidFill>
                  <a:srgbClr val="273239"/>
                </a:solidFill>
              </a:rPr>
              <a:t>st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smtClean="0">
                <a:solidFill>
                  <a:srgbClr val="273239"/>
                </a:solidFill>
              </a:rPr>
              <a:t>Stack();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9385168" y="2635384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2823" y="2970372"/>
            <a:ext cx="2412584" cy="37394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push(Object o)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pop(Object o)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peek(</a:t>
            </a:r>
            <a:r>
              <a:rPr lang="en-US" sz="2800" dirty="0" err="1" smtClean="0"/>
              <a:t>intdex</a:t>
            </a:r>
            <a:r>
              <a:rPr lang="en-US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isEmpty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search </a:t>
            </a:r>
            <a:r>
              <a:rPr lang="en-US" sz="2800" dirty="0"/>
              <a:t>()</a:t>
            </a:r>
            <a:endParaRPr lang="en-US" sz="2800" dirty="0" smtClean="0"/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207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1216" y="1114212"/>
            <a:ext cx="1132053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inter-regular"/>
              </a:rPr>
              <a:t>Set: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is the child interface of Collection interface.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inhibits a list type data structure in which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insertion ordered objects is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not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preserved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and duplicate values are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not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allowed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.</a:t>
            </a:r>
          </a:p>
          <a:p>
            <a:endParaRPr lang="en-US" sz="2400" dirty="0">
              <a:solidFill>
                <a:srgbClr val="333333"/>
              </a:solidFill>
              <a:latin typeface="inter-regula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doesn’t contain any methods we have to use Collection Interface methods only.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63962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578" y="981283"/>
            <a:ext cx="1184968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inter-regular"/>
              </a:rPr>
              <a:t>HashSet</a:t>
            </a:r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 :</a:t>
            </a:r>
            <a:r>
              <a:rPr lang="en-US" sz="2400" i="1" dirty="0"/>
              <a:t> </a:t>
            </a:r>
            <a:r>
              <a:rPr lang="en-US" sz="2400" dirty="0" err="1"/>
              <a:t>HashSet</a:t>
            </a:r>
            <a:r>
              <a:rPr lang="en-US" sz="2400" dirty="0"/>
              <a:t> extends </a:t>
            </a:r>
            <a:r>
              <a:rPr lang="en-US" sz="2400" dirty="0" err="1"/>
              <a:t>AbstractSet</a:t>
            </a:r>
            <a:r>
              <a:rPr lang="en-US" sz="2400" dirty="0"/>
              <a:t> and implements the Set interface.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creates a collection that uses a hash table for storage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Duplicates not allowed and insertion order not </a:t>
            </a:r>
            <a:r>
              <a:rPr lang="en-US" sz="2400" dirty="0" err="1" smtClean="0"/>
              <a:t>preservred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Null insertion is possible only once.</a:t>
            </a: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hash table stores information by using a mechanism called </a:t>
            </a:r>
            <a:r>
              <a:rPr lang="en-US" sz="2400" b="1" dirty="0"/>
              <a:t>hashing</a:t>
            </a:r>
            <a:r>
              <a:rPr lang="en-US" sz="2400" dirty="0"/>
              <a:t>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In </a:t>
            </a:r>
            <a:r>
              <a:rPr lang="en-US" sz="2400" dirty="0"/>
              <a:t>hashing, the informational content of a key is used to determine a unique value, called its hash code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 smtClean="0"/>
              <a:t>HashSet</a:t>
            </a:r>
            <a:r>
              <a:rPr lang="en-US" sz="2400" dirty="0" smtClean="0"/>
              <a:t> implements </a:t>
            </a:r>
            <a:r>
              <a:rPr lang="en-US" sz="2400" dirty="0" err="1" smtClean="0"/>
              <a:t>serializable</a:t>
            </a:r>
            <a:r>
              <a:rPr lang="en-US" sz="2400" dirty="0" smtClean="0"/>
              <a:t> and </a:t>
            </a:r>
            <a:r>
              <a:rPr lang="en-US" sz="2400" dirty="0" err="1" smtClean="0"/>
              <a:t>clonable</a:t>
            </a:r>
            <a:r>
              <a:rPr lang="en-US" sz="2400" dirty="0" smtClean="0"/>
              <a:t> Interfaces.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578428" y="4066659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8428" y="4408383"/>
            <a:ext cx="4226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 smtClean="0">
                <a:solidFill>
                  <a:srgbClr val="273239"/>
                </a:solidFill>
              </a:rPr>
              <a:t>HashSet</a:t>
            </a:r>
            <a:r>
              <a:rPr lang="en-IN" sz="2800" i="1" dirty="0" smtClean="0">
                <a:solidFill>
                  <a:srgbClr val="273239"/>
                </a:solidFill>
              </a:rPr>
              <a:t> v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();</a:t>
            </a:r>
            <a:endParaRPr lang="en-IN" sz="2800" dirty="0"/>
          </a:p>
        </p:txBody>
      </p:sp>
      <p:sp>
        <p:nvSpPr>
          <p:cNvPr id="11" name="Rectangle 10"/>
          <p:cNvSpPr/>
          <p:nvPr/>
        </p:nvSpPr>
        <p:spPr>
          <a:xfrm>
            <a:off x="578428" y="5043339"/>
            <a:ext cx="61680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v = new </a:t>
            </a:r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intialcapacity</a:t>
            </a:r>
            <a:r>
              <a:rPr lang="en-IN" sz="2800" i="1" dirty="0" smtClean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578428" y="5735720"/>
            <a:ext cx="74524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v = new </a:t>
            </a:r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initialcapacity,fillratio</a:t>
            </a:r>
            <a:r>
              <a:rPr lang="en-IN" sz="2800" i="1" dirty="0" smtClean="0">
                <a:solidFill>
                  <a:srgbClr val="273239"/>
                </a:solidFill>
              </a:rPr>
              <a:t> );</a:t>
            </a:r>
            <a:endParaRPr lang="en-IN" sz="2800" dirty="0"/>
          </a:p>
        </p:txBody>
      </p:sp>
      <p:sp>
        <p:nvSpPr>
          <p:cNvPr id="13" name="Rectangle 12"/>
          <p:cNvSpPr/>
          <p:nvPr/>
        </p:nvSpPr>
        <p:spPr>
          <a:xfrm>
            <a:off x="578428" y="6298866"/>
            <a:ext cx="5883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v = new </a:t>
            </a:r>
            <a:r>
              <a:rPr lang="en-IN" sz="2800" i="1" dirty="0" err="1">
                <a:solidFill>
                  <a:srgbClr val="273239"/>
                </a:solidFill>
              </a:rPr>
              <a:t>HashSet</a:t>
            </a:r>
            <a:r>
              <a:rPr lang="en-IN" sz="2800" i="1" dirty="0">
                <a:solidFill>
                  <a:srgbClr val="273239"/>
                </a:solidFill>
              </a:rPr>
              <a:t> (Collection </a:t>
            </a:r>
            <a:r>
              <a:rPr lang="en-IN" sz="2800" i="1" dirty="0" smtClean="0">
                <a:solidFill>
                  <a:srgbClr val="273239"/>
                </a:solidFill>
              </a:rPr>
              <a:t>c</a:t>
            </a:r>
            <a:r>
              <a:rPr lang="en-IN" sz="2800" i="1" dirty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78340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1216" y="1114212"/>
            <a:ext cx="1132053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inter-regular"/>
              </a:rPr>
              <a:t>S</a:t>
            </a:r>
            <a:r>
              <a:rPr lang="en-US" sz="3200" dirty="0" err="1" smtClean="0">
                <a:solidFill>
                  <a:srgbClr val="FF0000"/>
                </a:solidFill>
                <a:latin typeface="inter-regular"/>
              </a:rPr>
              <a:t>ortedSet</a:t>
            </a:r>
            <a:r>
              <a:rPr lang="en-US" sz="3200" dirty="0" smtClean="0">
                <a:solidFill>
                  <a:srgbClr val="FF0000"/>
                </a:solidFill>
                <a:latin typeface="inter-regular"/>
              </a:rPr>
              <a:t>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is the child interface of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Set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interface.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inhibits a list type data structure in which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objects are stored in some sorted order and duplicate values are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not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allowed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.</a:t>
            </a:r>
          </a:p>
          <a:p>
            <a:endParaRPr lang="en-US" sz="2400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95726" y="2680833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3381" y="3015821"/>
            <a:ext cx="407226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Object first()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Object </a:t>
            </a:r>
            <a:r>
              <a:rPr lang="en-US" sz="2800" dirty="0" smtClean="0"/>
              <a:t> last()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B050"/>
                </a:solidFill>
              </a:rPr>
              <a:t>Comparator comparator()</a:t>
            </a:r>
          </a:p>
          <a:p>
            <a:pPr>
              <a:lnSpc>
                <a:spcPct val="150000"/>
              </a:lnSpc>
            </a:pPr>
            <a:r>
              <a:rPr lang="en-US" sz="2800" dirty="0" err="1" smtClean="0"/>
              <a:t>SortedSet</a:t>
            </a:r>
            <a:r>
              <a:rPr lang="en-US" sz="2800" dirty="0" smtClean="0"/>
              <a:t> </a:t>
            </a:r>
            <a:r>
              <a:rPr lang="en-US" sz="2800" dirty="0" err="1" smtClean="0"/>
              <a:t>headSet</a:t>
            </a:r>
            <a:r>
              <a:rPr lang="en-US" sz="2800" dirty="0" smtClean="0"/>
              <a:t>(</a:t>
            </a:r>
            <a:r>
              <a:rPr lang="en-US" sz="2800" dirty="0" err="1" smtClean="0"/>
              <a:t>obj</a:t>
            </a:r>
            <a:r>
              <a:rPr lang="en-US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SortedSet</a:t>
            </a:r>
            <a:r>
              <a:rPr lang="en-US" sz="2800" dirty="0"/>
              <a:t> </a:t>
            </a:r>
            <a:r>
              <a:rPr lang="en-US" sz="2800" dirty="0" err="1"/>
              <a:t>t</a:t>
            </a:r>
            <a:r>
              <a:rPr lang="en-US" sz="2800" dirty="0" err="1" smtClean="0"/>
              <a:t>ailSet</a:t>
            </a:r>
            <a:r>
              <a:rPr lang="en-US" sz="2800" dirty="0" smtClean="0"/>
              <a:t>(</a:t>
            </a:r>
            <a:r>
              <a:rPr lang="en-US" sz="2800" dirty="0" err="1" smtClean="0"/>
              <a:t>obj</a:t>
            </a:r>
            <a:r>
              <a:rPr lang="en-US" sz="28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SortedSet</a:t>
            </a:r>
            <a:r>
              <a:rPr lang="en-US" sz="2800" dirty="0"/>
              <a:t> </a:t>
            </a:r>
            <a:r>
              <a:rPr lang="en-US" sz="2800" dirty="0" err="1" smtClean="0"/>
              <a:t>subSet</a:t>
            </a:r>
            <a:r>
              <a:rPr lang="en-US" sz="2800" dirty="0" smtClean="0"/>
              <a:t>(</a:t>
            </a:r>
            <a:r>
              <a:rPr lang="en-US" sz="2800" dirty="0" err="1" smtClean="0"/>
              <a:t>obj,obj</a:t>
            </a:r>
            <a:r>
              <a:rPr lang="en-US" sz="2800" dirty="0" smtClean="0"/>
              <a:t>)  </a:t>
            </a:r>
          </a:p>
        </p:txBody>
      </p:sp>
    </p:spTree>
    <p:extLst>
      <p:ext uri="{BB962C8B-B14F-4D97-AF65-F5344CB8AC3E}">
        <p14:creationId xmlns="" xmlns:p14="http://schemas.microsoft.com/office/powerpoint/2010/main" val="25989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578" y="981283"/>
            <a:ext cx="11849684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inter-regular"/>
              </a:rPr>
              <a:t>TreeSet</a:t>
            </a:r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 :</a:t>
            </a:r>
            <a:r>
              <a:rPr lang="en-US" sz="2400" i="1" dirty="0"/>
              <a:t> </a:t>
            </a:r>
            <a:r>
              <a:rPr lang="en-US" sz="2400" dirty="0" err="1" smtClean="0"/>
              <a:t>TreeSet</a:t>
            </a:r>
            <a:r>
              <a:rPr lang="en-US" sz="2400" dirty="0" smtClean="0"/>
              <a:t> implements </a:t>
            </a:r>
            <a:r>
              <a:rPr lang="en-US" sz="2400" dirty="0"/>
              <a:t>the </a:t>
            </a:r>
            <a:r>
              <a:rPr lang="en-US" sz="2400" dirty="0" err="1" smtClean="0"/>
              <a:t>SortedSet</a:t>
            </a:r>
            <a:r>
              <a:rPr lang="en-US" sz="2400" dirty="0" smtClean="0"/>
              <a:t> </a:t>
            </a:r>
            <a:r>
              <a:rPr lang="en-US" sz="2400" dirty="0"/>
              <a:t>interface.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It </a:t>
            </a:r>
            <a:r>
              <a:rPr lang="en-US" sz="2400" dirty="0"/>
              <a:t>creates a collection that uses a </a:t>
            </a:r>
            <a:r>
              <a:rPr lang="en-US" sz="2400" dirty="0" smtClean="0"/>
              <a:t>Balanced tree </a:t>
            </a:r>
            <a:r>
              <a:rPr lang="en-US" sz="2400" dirty="0"/>
              <a:t>for storage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Duplicates not allowed and insertion order not </a:t>
            </a:r>
            <a:r>
              <a:rPr lang="en-US" sz="2400" dirty="0" err="1" smtClean="0"/>
              <a:t>preservred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Null insertion is possible only once.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 smtClean="0">
                <a:solidFill>
                  <a:srgbClr val="FF0000"/>
                </a:solidFill>
              </a:rPr>
              <a:t>Hetrogeneous</a:t>
            </a:r>
            <a:r>
              <a:rPr lang="en-US" sz="2400" dirty="0" smtClean="0">
                <a:solidFill>
                  <a:srgbClr val="FF0000"/>
                </a:solidFill>
              </a:rPr>
              <a:t> Objects are not allowed.</a:t>
            </a: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US" sz="2400" dirty="0" err="1" smtClean="0"/>
              <a:t>TreeSet</a:t>
            </a:r>
            <a:r>
              <a:rPr lang="en-US" sz="2400" dirty="0" smtClean="0"/>
              <a:t> implements </a:t>
            </a:r>
            <a:r>
              <a:rPr lang="en-US" sz="2400" dirty="0" err="1" smtClean="0"/>
              <a:t>serializable</a:t>
            </a:r>
            <a:r>
              <a:rPr lang="en-US" sz="2400" dirty="0" smtClean="0"/>
              <a:t> and </a:t>
            </a:r>
            <a:r>
              <a:rPr lang="en-US" sz="2400" dirty="0" err="1" smtClean="0"/>
              <a:t>clonable</a:t>
            </a:r>
            <a:r>
              <a:rPr lang="en-US" sz="2400" dirty="0" smtClean="0"/>
              <a:t> Interfaces.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539791" y="3731808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791" y="4073532"/>
            <a:ext cx="4117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 smtClean="0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v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();</a:t>
            </a:r>
            <a:endParaRPr lang="en-IN" sz="2800" dirty="0"/>
          </a:p>
        </p:txBody>
      </p:sp>
      <p:sp>
        <p:nvSpPr>
          <p:cNvPr id="11" name="Rectangle 10"/>
          <p:cNvSpPr/>
          <p:nvPr/>
        </p:nvSpPr>
        <p:spPr>
          <a:xfrm>
            <a:off x="539791" y="4708488"/>
            <a:ext cx="599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(Comparator c);</a:t>
            </a:r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539791" y="5400869"/>
            <a:ext cx="57154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SortedSet</a:t>
            </a:r>
            <a:r>
              <a:rPr lang="en-IN" sz="2800" i="1" dirty="0" smtClean="0">
                <a:solidFill>
                  <a:srgbClr val="273239"/>
                </a:solidFill>
              </a:rPr>
              <a:t>  s);</a:t>
            </a:r>
            <a:endParaRPr lang="en-IN" sz="2800" dirty="0"/>
          </a:p>
        </p:txBody>
      </p:sp>
      <p:sp>
        <p:nvSpPr>
          <p:cNvPr id="13" name="Rectangle 12"/>
          <p:cNvSpPr/>
          <p:nvPr/>
        </p:nvSpPr>
        <p:spPr>
          <a:xfrm>
            <a:off x="539791" y="5964015"/>
            <a:ext cx="5883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TreeSet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(Collection </a:t>
            </a:r>
            <a:r>
              <a:rPr lang="en-IN" sz="2800" i="1" dirty="0" smtClean="0">
                <a:solidFill>
                  <a:srgbClr val="273239"/>
                </a:solidFill>
              </a:rPr>
              <a:t>c</a:t>
            </a:r>
            <a:r>
              <a:rPr lang="en-IN" sz="2800" i="1" dirty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64711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1216" y="1114212"/>
            <a:ext cx="1132053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inter-regular"/>
              </a:rPr>
              <a:t>Q</a:t>
            </a:r>
            <a:r>
              <a:rPr lang="en-US" sz="3200" dirty="0" smtClean="0">
                <a:solidFill>
                  <a:srgbClr val="FF0000"/>
                </a:solidFill>
                <a:latin typeface="inter-regular"/>
              </a:rPr>
              <a:t>ueue: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is the child interface of </a:t>
            </a:r>
            <a:r>
              <a:rPr lang="en-US" sz="2400" dirty="0" smtClean="0">
                <a:solidFill>
                  <a:srgbClr val="FF0000"/>
                </a:solidFill>
                <a:latin typeface="inter-regular"/>
              </a:rPr>
              <a:t>Collection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interface. </a:t>
            </a:r>
            <a:endParaRPr lang="en-US" sz="2400" dirty="0" smtClean="0">
              <a:solidFill>
                <a:srgbClr val="333333"/>
              </a:solidFill>
              <a:latin typeface="inter-regular"/>
            </a:endParaRPr>
          </a:p>
          <a:p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inhibits a list type data structure in which </a:t>
            </a: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 objects are stored in </a:t>
            </a:r>
            <a:r>
              <a:rPr lang="en-US" sz="2400" b="1" dirty="0" smtClean="0">
                <a:solidFill>
                  <a:srgbClr val="333333"/>
                </a:solidFill>
                <a:latin typeface="inter-regular"/>
              </a:rPr>
              <a:t>FIFO.</a:t>
            </a:r>
          </a:p>
          <a:p>
            <a:endParaRPr lang="en-US" sz="2400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88143" y="2206818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052" y="2646489"/>
            <a:ext cx="118979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Object add(): Adds the element and returns true upon success.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Object Offer(Object): </a:t>
            </a:r>
            <a:r>
              <a:rPr lang="en-US" sz="2800" dirty="0"/>
              <a:t>Adds the </a:t>
            </a:r>
            <a:r>
              <a:rPr lang="en-US" sz="2800" dirty="0" smtClean="0"/>
              <a:t>element to the queue.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Object </a:t>
            </a:r>
            <a:r>
              <a:rPr lang="en-US" sz="2800" dirty="0" smtClean="0"/>
              <a:t> remove(): It removes the head retrieve element.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Object  pool():</a:t>
            </a:r>
            <a:r>
              <a:rPr lang="en-US" sz="2800" dirty="0"/>
              <a:t> </a:t>
            </a:r>
            <a:r>
              <a:rPr lang="en-US" sz="2400" dirty="0"/>
              <a:t>It </a:t>
            </a:r>
            <a:r>
              <a:rPr lang="en-US" sz="2400" dirty="0" smtClean="0"/>
              <a:t>retrieves </a:t>
            </a:r>
            <a:r>
              <a:rPr lang="en-US" sz="2400" dirty="0"/>
              <a:t>and removes the head of </a:t>
            </a:r>
            <a:r>
              <a:rPr lang="en-US" sz="2400" dirty="0" smtClean="0"/>
              <a:t>queue</a:t>
            </a:r>
            <a:r>
              <a:rPr lang="en-US" sz="2400" dirty="0"/>
              <a:t>, </a:t>
            </a:r>
            <a:r>
              <a:rPr lang="en-US" sz="2400" dirty="0" smtClean="0"/>
              <a:t>or </a:t>
            </a:r>
            <a:r>
              <a:rPr lang="en-US" sz="2400" dirty="0"/>
              <a:t>returns null </a:t>
            </a:r>
            <a:r>
              <a:rPr lang="en-US" sz="2400" dirty="0" smtClean="0"/>
              <a:t>if </a:t>
            </a:r>
            <a:r>
              <a:rPr lang="en-US" sz="2400" dirty="0"/>
              <a:t>queue is empty.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800" dirty="0" smtClean="0"/>
              <a:t>Object peek(): retrieves the head element.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 smtClean="0"/>
              <a:t>  </a:t>
            </a:r>
          </a:p>
        </p:txBody>
      </p:sp>
    </p:spTree>
    <p:extLst>
      <p:ext uri="{BB962C8B-B14F-4D97-AF65-F5344CB8AC3E}">
        <p14:creationId xmlns="" xmlns:p14="http://schemas.microsoft.com/office/powerpoint/2010/main" val="149280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578" y="981283"/>
            <a:ext cx="1184968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inter-regular"/>
              </a:rPr>
              <a:t>PriorityQueue</a:t>
            </a:r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 : </a:t>
            </a:r>
            <a:r>
              <a:rPr lang="en-US" sz="2400" dirty="0"/>
              <a:t>The </a:t>
            </a:r>
            <a:r>
              <a:rPr lang="en-US" sz="2400" dirty="0" err="1"/>
              <a:t>PriorityQueue</a:t>
            </a:r>
            <a:r>
              <a:rPr lang="en-US" sz="2400" dirty="0"/>
              <a:t> class provides the facility of using </a:t>
            </a:r>
            <a:r>
              <a:rPr lang="en-US" sz="2400" dirty="0" smtClean="0"/>
              <a:t>queue.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Duplicates not allowed and insertion order not </a:t>
            </a:r>
            <a:r>
              <a:rPr lang="en-US" sz="2400" dirty="0" err="1" smtClean="0"/>
              <a:t>preservred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Null insertion is not possible.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US" sz="2400" dirty="0" err="1" smtClean="0"/>
              <a:t>PriorityQueue</a:t>
            </a:r>
            <a:r>
              <a:rPr lang="en-US" sz="2400" dirty="0" smtClean="0"/>
              <a:t> implements </a:t>
            </a:r>
            <a:r>
              <a:rPr lang="en-US" sz="2400" dirty="0" err="1" smtClean="0"/>
              <a:t>serializable</a:t>
            </a:r>
            <a:r>
              <a:rPr lang="en-US" sz="2400" dirty="0" smtClean="0"/>
              <a:t> and </a:t>
            </a:r>
            <a:r>
              <a:rPr lang="en-US" sz="2400" dirty="0" err="1" smtClean="0"/>
              <a:t>clonable</a:t>
            </a:r>
            <a:r>
              <a:rPr lang="en-US" sz="2400" dirty="0" smtClean="0"/>
              <a:t> Interfaces.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449639" y="2749283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39" y="3380109"/>
            <a:ext cx="58812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 smtClean="0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v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();</a:t>
            </a:r>
            <a:endParaRPr lang="en-IN" sz="2800" dirty="0"/>
          </a:p>
        </p:txBody>
      </p:sp>
      <p:sp>
        <p:nvSpPr>
          <p:cNvPr id="11" name="Rectangle 10"/>
          <p:cNvSpPr/>
          <p:nvPr/>
        </p:nvSpPr>
        <p:spPr>
          <a:xfrm>
            <a:off x="539791" y="4708488"/>
            <a:ext cx="100757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intial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 err="1" smtClean="0">
                <a:solidFill>
                  <a:srgbClr val="273239"/>
                </a:solidFill>
              </a:rPr>
              <a:t>capacity,Comparator</a:t>
            </a:r>
            <a:r>
              <a:rPr lang="en-IN" sz="2800" i="1" dirty="0" smtClean="0">
                <a:solidFill>
                  <a:srgbClr val="273239"/>
                </a:solidFill>
              </a:rPr>
              <a:t> c);</a:t>
            </a:r>
            <a:endParaRPr lang="en-IN" sz="2800" dirty="0"/>
          </a:p>
        </p:txBody>
      </p:sp>
      <p:sp>
        <p:nvSpPr>
          <p:cNvPr id="12" name="Rectangle 11"/>
          <p:cNvSpPr/>
          <p:nvPr/>
        </p:nvSpPr>
        <p:spPr>
          <a:xfrm>
            <a:off x="539791" y="5400869"/>
            <a:ext cx="7577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SortedSet</a:t>
            </a:r>
            <a:r>
              <a:rPr lang="en-IN" sz="2800" i="1" dirty="0" smtClean="0">
                <a:solidFill>
                  <a:srgbClr val="273239"/>
                </a:solidFill>
              </a:rPr>
              <a:t>  s);</a:t>
            </a:r>
            <a:endParaRPr lang="en-IN" sz="2800" dirty="0"/>
          </a:p>
        </p:txBody>
      </p:sp>
      <p:sp>
        <p:nvSpPr>
          <p:cNvPr id="13" name="Rectangle 12"/>
          <p:cNvSpPr/>
          <p:nvPr/>
        </p:nvSpPr>
        <p:spPr>
          <a:xfrm>
            <a:off x="539791" y="5964015"/>
            <a:ext cx="7538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(Collection </a:t>
            </a:r>
            <a:r>
              <a:rPr lang="en-IN" sz="2800" i="1" dirty="0" smtClean="0">
                <a:solidFill>
                  <a:srgbClr val="273239"/>
                </a:solidFill>
              </a:rPr>
              <a:t>c</a:t>
            </a:r>
            <a:r>
              <a:rPr lang="en-IN" sz="2800" i="1" dirty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  <p:sp>
        <p:nvSpPr>
          <p:cNvPr id="9" name="Rectangle 8"/>
          <p:cNvSpPr/>
          <p:nvPr/>
        </p:nvSpPr>
        <p:spPr>
          <a:xfrm>
            <a:off x="449639" y="3917003"/>
            <a:ext cx="8161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v = new </a:t>
            </a:r>
            <a:r>
              <a:rPr lang="en-IN" sz="2800" i="1" dirty="0" err="1">
                <a:solidFill>
                  <a:srgbClr val="273239"/>
                </a:solidFill>
              </a:rPr>
              <a:t>PriorityQueue</a:t>
            </a:r>
            <a:r>
              <a:rPr lang="en-IN" sz="2800" i="1" dirty="0" smtClean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intial</a:t>
            </a:r>
            <a:r>
              <a:rPr lang="en-IN" sz="2800" i="1" dirty="0" smtClean="0">
                <a:solidFill>
                  <a:srgbClr val="273239"/>
                </a:solidFill>
              </a:rPr>
              <a:t> capacity);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66436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13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6215" y="1440054"/>
            <a:ext cx="963339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class </a:t>
            </a:r>
            <a:r>
              <a:rPr lang="en-IN" dirty="0" err="1"/>
              <a:t>PriorityQueueDemo</a:t>
            </a:r>
            <a:r>
              <a:rPr lang="en-IN" dirty="0"/>
              <a:t>{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PriorityQueue</a:t>
            </a:r>
            <a:r>
              <a:rPr lang="en-IN" dirty="0"/>
              <a:t>&lt;String&gt; </a:t>
            </a:r>
            <a:r>
              <a:rPr lang="en-IN" dirty="0" err="1"/>
              <a:t>qu</a:t>
            </a:r>
            <a:r>
              <a:rPr lang="en-IN" dirty="0"/>
              <a:t>=new </a:t>
            </a:r>
            <a:r>
              <a:rPr lang="en-IN" dirty="0" err="1"/>
              <a:t>PriorityQueue</a:t>
            </a:r>
            <a:r>
              <a:rPr lang="en-IN" dirty="0"/>
              <a:t>&lt;String&gt;();</a:t>
            </a:r>
          </a:p>
          <a:p>
            <a:r>
              <a:rPr lang="en-IN" dirty="0" err="1"/>
              <a:t>qu.add</a:t>
            </a:r>
            <a:r>
              <a:rPr lang="en-IN" dirty="0"/>
              <a:t>("</a:t>
            </a:r>
            <a:r>
              <a:rPr lang="en-IN" dirty="0" err="1"/>
              <a:t>Durga</a:t>
            </a:r>
            <a:r>
              <a:rPr lang="en-IN" dirty="0"/>
              <a:t>");</a:t>
            </a:r>
          </a:p>
          <a:p>
            <a:r>
              <a:rPr lang="en-IN" dirty="0" err="1"/>
              <a:t>qu.add</a:t>
            </a:r>
            <a:r>
              <a:rPr lang="en-IN" dirty="0"/>
              <a:t>("</a:t>
            </a:r>
            <a:r>
              <a:rPr lang="en-IN" dirty="0" err="1"/>
              <a:t>Madhu</a:t>
            </a:r>
            <a:r>
              <a:rPr lang="en-IN" dirty="0"/>
              <a:t>");</a:t>
            </a:r>
          </a:p>
          <a:p>
            <a:r>
              <a:rPr lang="en-IN" dirty="0" err="1"/>
              <a:t>qu.add</a:t>
            </a:r>
            <a:r>
              <a:rPr lang="en-IN" dirty="0"/>
              <a:t>("Naveen");</a:t>
            </a:r>
          </a:p>
          <a:p>
            <a:r>
              <a:rPr lang="en-IN" dirty="0" err="1"/>
              <a:t>qu.add</a:t>
            </a:r>
            <a:r>
              <a:rPr lang="en-IN" dirty="0"/>
              <a:t>("</a:t>
            </a:r>
            <a:r>
              <a:rPr lang="en-IN" dirty="0" err="1"/>
              <a:t>RAmesh</a:t>
            </a:r>
            <a:r>
              <a:rPr lang="en-IN" dirty="0"/>
              <a:t>");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("head:"+</a:t>
            </a:r>
            <a:r>
              <a:rPr lang="en-IN" dirty="0" err="1"/>
              <a:t>qu.element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("head:"+</a:t>
            </a:r>
            <a:r>
              <a:rPr lang="en-IN" dirty="0" err="1"/>
              <a:t>qu.peek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("the </a:t>
            </a:r>
            <a:r>
              <a:rPr lang="en-IN" dirty="0" err="1"/>
              <a:t>queueelements</a:t>
            </a:r>
            <a:r>
              <a:rPr lang="en-IN" dirty="0"/>
              <a:t>:");</a:t>
            </a:r>
          </a:p>
          <a:p>
            <a:r>
              <a:rPr lang="en-IN" dirty="0"/>
              <a:t>Iterator </a:t>
            </a:r>
            <a:r>
              <a:rPr lang="en-IN" dirty="0" err="1"/>
              <a:t>itr</a:t>
            </a:r>
            <a:r>
              <a:rPr lang="en-IN" dirty="0"/>
              <a:t>=</a:t>
            </a:r>
            <a:r>
              <a:rPr lang="en-IN" dirty="0" err="1"/>
              <a:t>queue.iterator</a:t>
            </a:r>
            <a:r>
              <a:rPr lang="en-IN" dirty="0"/>
              <a:t>();</a:t>
            </a:r>
          </a:p>
          <a:p>
            <a:r>
              <a:rPr lang="en-IN" dirty="0"/>
              <a:t>while(</a:t>
            </a:r>
            <a:r>
              <a:rPr lang="en-IN" dirty="0" err="1"/>
              <a:t>itr.hasNext</a:t>
            </a:r>
            <a:r>
              <a:rPr lang="en-IN" dirty="0"/>
              <a:t>()){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itr.next</a:t>
            </a:r>
            <a:r>
              <a:rPr lang="en-IN" dirty="0"/>
              <a:t>());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267719" y="118647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 err="1"/>
              <a:t>queue.remove</a:t>
            </a:r>
            <a:r>
              <a:rPr lang="en-IN" dirty="0"/>
              <a:t>();</a:t>
            </a:r>
          </a:p>
          <a:p>
            <a:r>
              <a:rPr lang="en-IN" dirty="0" err="1"/>
              <a:t>queue.poll</a:t>
            </a:r>
            <a:r>
              <a:rPr lang="en-IN" dirty="0"/>
              <a:t>();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afterremovingtwoelements</a:t>
            </a:r>
            <a:r>
              <a:rPr lang="en-IN" dirty="0"/>
              <a:t>:");</a:t>
            </a:r>
          </a:p>
          <a:p>
            <a:r>
              <a:rPr lang="en-IN" dirty="0"/>
              <a:t>Iterator&lt;String&gt;itr2=</a:t>
            </a:r>
            <a:r>
              <a:rPr lang="en-IN" dirty="0" err="1"/>
              <a:t>queue.iterator</a:t>
            </a:r>
            <a:r>
              <a:rPr lang="en-IN" dirty="0"/>
              <a:t>();</a:t>
            </a:r>
          </a:p>
          <a:p>
            <a:r>
              <a:rPr lang="en-IN" dirty="0"/>
              <a:t>while(itr2.hasNext()){</a:t>
            </a:r>
          </a:p>
          <a:p>
            <a:r>
              <a:rPr lang="en-IN" dirty="0" err="1"/>
              <a:t>System.out.println</a:t>
            </a:r>
            <a:r>
              <a:rPr lang="en-IN" dirty="0"/>
              <a:t>(itr2.next());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54856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578" y="981283"/>
            <a:ext cx="1184968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inter-regular"/>
              </a:rPr>
              <a:t>ArrayDeque</a:t>
            </a:r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 : </a:t>
            </a:r>
            <a:r>
              <a:rPr lang="en-US" sz="2400" dirty="0"/>
              <a:t>The </a:t>
            </a:r>
            <a:r>
              <a:rPr lang="en-US" sz="2400" dirty="0" err="1"/>
              <a:t>ArrayDeque</a:t>
            </a:r>
            <a:r>
              <a:rPr lang="en-US" sz="2400" dirty="0"/>
              <a:t> class provides the facility of using </a:t>
            </a:r>
            <a:r>
              <a:rPr lang="en-US" sz="2400" dirty="0" err="1"/>
              <a:t>deque</a:t>
            </a:r>
            <a:r>
              <a:rPr lang="en-US" sz="2400" dirty="0"/>
              <a:t> and resizable-array. It inherits </a:t>
            </a:r>
            <a:r>
              <a:rPr lang="en-US" sz="2400" dirty="0" err="1"/>
              <a:t>AbstractCollection</a:t>
            </a:r>
            <a:r>
              <a:rPr lang="en-US" sz="2400" dirty="0"/>
              <a:t> class and implements the </a:t>
            </a:r>
            <a:r>
              <a:rPr lang="en-US" sz="2400" dirty="0" err="1"/>
              <a:t>Deque</a:t>
            </a:r>
            <a:r>
              <a:rPr lang="en-US" sz="2400" dirty="0"/>
              <a:t> </a:t>
            </a:r>
            <a:r>
              <a:rPr lang="en-US" sz="2400" dirty="0" smtClean="0"/>
              <a:t>interface.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Duplicates not allowed and insertion order not </a:t>
            </a:r>
            <a:r>
              <a:rPr lang="en-US" sz="2400" dirty="0" err="1" smtClean="0"/>
              <a:t>preservred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Null insertion is not possible.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US" sz="2400" dirty="0" err="1" smtClean="0"/>
              <a:t>ArrayDeque</a:t>
            </a:r>
            <a:r>
              <a:rPr lang="en-US" sz="2400" dirty="0" smtClean="0"/>
              <a:t> implements </a:t>
            </a:r>
            <a:r>
              <a:rPr lang="en-US" sz="2400" dirty="0" err="1" smtClean="0"/>
              <a:t>serializable</a:t>
            </a:r>
            <a:r>
              <a:rPr lang="en-US" sz="2400" dirty="0" smtClean="0"/>
              <a:t> and </a:t>
            </a:r>
            <a:r>
              <a:rPr lang="en-US" sz="2400" dirty="0" err="1" smtClean="0"/>
              <a:t>clonable</a:t>
            </a:r>
            <a:r>
              <a:rPr lang="en-US" sz="2400" dirty="0" smtClean="0"/>
              <a:t> Interfaces.</a:t>
            </a:r>
            <a:endParaRPr lang="en-IN" sz="2400" dirty="0"/>
          </a:p>
        </p:txBody>
      </p:sp>
      <p:sp>
        <p:nvSpPr>
          <p:cNvPr id="2" name="Rectangle 1"/>
          <p:cNvSpPr/>
          <p:nvPr/>
        </p:nvSpPr>
        <p:spPr>
          <a:xfrm>
            <a:off x="449639" y="3015144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9639" y="3380109"/>
            <a:ext cx="55317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 smtClean="0">
                <a:solidFill>
                  <a:srgbClr val="273239"/>
                </a:solidFill>
              </a:rPr>
              <a:t>ArrayDeque</a:t>
            </a:r>
            <a:r>
              <a:rPr lang="en-IN" sz="2800" i="1" dirty="0" smtClean="0">
                <a:solidFill>
                  <a:srgbClr val="273239"/>
                </a:solidFill>
              </a:rPr>
              <a:t> ad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273239"/>
                </a:solidFill>
              </a:rPr>
              <a:t>ArrayDeque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();</a:t>
            </a:r>
            <a:endParaRPr lang="en-IN" sz="2800" dirty="0"/>
          </a:p>
        </p:txBody>
      </p:sp>
      <p:sp>
        <p:nvSpPr>
          <p:cNvPr id="13" name="Rectangle 12"/>
          <p:cNvSpPr/>
          <p:nvPr/>
        </p:nvSpPr>
        <p:spPr>
          <a:xfrm>
            <a:off x="449639" y="4554027"/>
            <a:ext cx="71892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ArrayDeque</a:t>
            </a:r>
            <a:r>
              <a:rPr lang="en-IN" sz="2800" i="1" dirty="0">
                <a:solidFill>
                  <a:srgbClr val="273239"/>
                </a:solidFill>
              </a:rPr>
              <a:t> </a:t>
            </a:r>
            <a:r>
              <a:rPr lang="en-IN" sz="2800" i="1" dirty="0" smtClean="0">
                <a:solidFill>
                  <a:srgbClr val="273239"/>
                </a:solidFill>
              </a:rPr>
              <a:t>ad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273239"/>
                </a:solidFill>
              </a:rPr>
              <a:t>ArrayDeque</a:t>
            </a:r>
            <a:r>
              <a:rPr lang="en-IN" sz="2800" i="1" dirty="0" smtClean="0">
                <a:solidFill>
                  <a:srgbClr val="273239"/>
                </a:solidFill>
              </a:rPr>
              <a:t> </a:t>
            </a:r>
            <a:r>
              <a:rPr lang="en-IN" sz="2800" i="1" dirty="0">
                <a:solidFill>
                  <a:srgbClr val="273239"/>
                </a:solidFill>
              </a:rPr>
              <a:t>(Collection </a:t>
            </a:r>
            <a:r>
              <a:rPr lang="en-IN" sz="2800" i="1" dirty="0" smtClean="0">
                <a:solidFill>
                  <a:srgbClr val="273239"/>
                </a:solidFill>
              </a:rPr>
              <a:t>c</a:t>
            </a:r>
            <a:r>
              <a:rPr lang="en-IN" sz="2800" i="1" dirty="0">
                <a:solidFill>
                  <a:srgbClr val="273239"/>
                </a:solidFill>
              </a:rPr>
              <a:t>);</a:t>
            </a:r>
            <a:endParaRPr lang="en-IN" sz="2800" dirty="0"/>
          </a:p>
        </p:txBody>
      </p:sp>
      <p:sp>
        <p:nvSpPr>
          <p:cNvPr id="9" name="Rectangle 8"/>
          <p:cNvSpPr/>
          <p:nvPr/>
        </p:nvSpPr>
        <p:spPr>
          <a:xfrm>
            <a:off x="449639" y="3917003"/>
            <a:ext cx="7555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i="1" dirty="0" err="1">
                <a:solidFill>
                  <a:srgbClr val="273239"/>
                </a:solidFill>
              </a:rPr>
              <a:t>ArrayDeque</a:t>
            </a:r>
            <a:r>
              <a:rPr lang="en-IN" sz="2800" i="1" dirty="0" smtClean="0">
                <a:solidFill>
                  <a:srgbClr val="273239"/>
                </a:solidFill>
              </a:rPr>
              <a:t> ad </a:t>
            </a:r>
            <a:r>
              <a:rPr lang="en-IN" sz="2800" i="1" dirty="0">
                <a:solidFill>
                  <a:srgbClr val="273239"/>
                </a:solidFill>
              </a:rPr>
              <a:t>= new </a:t>
            </a:r>
            <a:r>
              <a:rPr lang="en-IN" sz="2800" i="1" dirty="0" err="1">
                <a:solidFill>
                  <a:srgbClr val="273239"/>
                </a:solidFill>
              </a:rPr>
              <a:t>ArrayDeque</a:t>
            </a:r>
            <a:r>
              <a:rPr lang="en-IN" sz="2800" i="1" dirty="0" smtClean="0">
                <a:solidFill>
                  <a:srgbClr val="273239"/>
                </a:solidFill>
              </a:rPr>
              <a:t> (</a:t>
            </a:r>
            <a:r>
              <a:rPr lang="en-IN" sz="2800" i="1" dirty="0" err="1" smtClean="0">
                <a:solidFill>
                  <a:srgbClr val="273239"/>
                </a:solidFill>
              </a:rPr>
              <a:t>intial</a:t>
            </a:r>
            <a:r>
              <a:rPr lang="en-IN" sz="2800" i="1" dirty="0" smtClean="0">
                <a:solidFill>
                  <a:srgbClr val="273239"/>
                </a:solidFill>
              </a:rPr>
              <a:t> capacity);</a:t>
            </a:r>
            <a:endParaRPr lang="en-IN" sz="2800" dirty="0"/>
          </a:p>
        </p:txBody>
      </p:sp>
      <p:sp>
        <p:nvSpPr>
          <p:cNvPr id="14" name="Rectangle 13"/>
          <p:cNvSpPr/>
          <p:nvPr/>
        </p:nvSpPr>
        <p:spPr>
          <a:xfrm>
            <a:off x="9439399" y="1830827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97511" y="2397635"/>
            <a:ext cx="281660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Object </a:t>
            </a:r>
            <a:r>
              <a:rPr lang="en-US" sz="2800" dirty="0" err="1" smtClean="0"/>
              <a:t>OfferFirst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Object </a:t>
            </a:r>
            <a:r>
              <a:rPr lang="en-US" sz="2800" dirty="0" smtClean="0"/>
              <a:t> </a:t>
            </a:r>
            <a:r>
              <a:rPr lang="en-US" sz="2800" dirty="0" err="1" smtClean="0"/>
              <a:t>offerlast</a:t>
            </a:r>
            <a:r>
              <a:rPr lang="en-US" sz="2800" dirty="0" smtClean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Object </a:t>
            </a:r>
            <a:r>
              <a:rPr lang="en-US" sz="2800" dirty="0" err="1" smtClean="0"/>
              <a:t>poolFirst</a:t>
            </a:r>
            <a:r>
              <a:rPr lang="en-US" sz="2800" dirty="0"/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Object  </a:t>
            </a:r>
            <a:r>
              <a:rPr lang="en-US" sz="2800" dirty="0" err="1" smtClean="0"/>
              <a:t>poollast</a:t>
            </a:r>
            <a:r>
              <a:rPr lang="en-US" sz="2800" dirty="0"/>
              <a:t>()</a:t>
            </a:r>
          </a:p>
          <a:p>
            <a:pPr>
              <a:lnSpc>
                <a:spcPct val="150000"/>
              </a:lnSpc>
            </a:pP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1588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3" grpId="0"/>
      <p:bldP spid="9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4502" y="1063606"/>
            <a:ext cx="675282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inter-regular"/>
              </a:rPr>
              <a:t>import </a:t>
            </a:r>
            <a:r>
              <a:rPr lang="en-IN" b="1" dirty="0" err="1">
                <a:latin typeface="inter-regular"/>
              </a:rPr>
              <a:t>java.util</a:t>
            </a:r>
            <a:r>
              <a:rPr lang="en-IN" b="1" dirty="0">
                <a:latin typeface="inter-regular"/>
              </a:rPr>
              <a:t>.*;</a:t>
            </a:r>
          </a:p>
          <a:p>
            <a:pPr algn="just"/>
            <a:r>
              <a:rPr lang="en-IN" b="1" dirty="0">
                <a:latin typeface="inter-regular"/>
              </a:rPr>
              <a:t>public class </a:t>
            </a:r>
            <a:r>
              <a:rPr lang="en-IN" b="1" dirty="0" err="1">
                <a:latin typeface="inter-regular"/>
              </a:rPr>
              <a:t>ArrayDequeDemo</a:t>
            </a:r>
            <a:r>
              <a:rPr lang="en-IN" b="1" dirty="0">
                <a:latin typeface="inter-regular"/>
              </a:rPr>
              <a:t>{</a:t>
            </a:r>
          </a:p>
          <a:p>
            <a:pPr algn="just"/>
            <a:r>
              <a:rPr lang="en-IN" b="1" dirty="0">
                <a:latin typeface="inter-regular"/>
              </a:rPr>
              <a:t>public static void main(String[]</a:t>
            </a:r>
            <a:r>
              <a:rPr lang="en-IN" b="1" dirty="0" err="1">
                <a:latin typeface="inter-regular"/>
              </a:rPr>
              <a:t>args</a:t>
            </a:r>
            <a:r>
              <a:rPr lang="en-IN" b="1" dirty="0">
                <a:latin typeface="inter-regular"/>
              </a:rPr>
              <a:t>){</a:t>
            </a:r>
          </a:p>
          <a:p>
            <a:pPr algn="just"/>
            <a:r>
              <a:rPr lang="en-IN" b="1" dirty="0" err="1">
                <a:latin typeface="inter-regular"/>
              </a:rPr>
              <a:t>ArrayDeque</a:t>
            </a:r>
            <a:r>
              <a:rPr lang="en-IN" b="1" dirty="0">
                <a:latin typeface="inter-regular"/>
              </a:rPr>
              <a:t>&lt;String&gt; </a:t>
            </a:r>
            <a:r>
              <a:rPr lang="en-IN" b="1" dirty="0" err="1">
                <a:latin typeface="inter-regular"/>
              </a:rPr>
              <a:t>deque</a:t>
            </a:r>
            <a:r>
              <a:rPr lang="en-IN" b="1" dirty="0">
                <a:latin typeface="inter-regular"/>
              </a:rPr>
              <a:t>=new </a:t>
            </a:r>
            <a:r>
              <a:rPr lang="en-IN" b="1" dirty="0" err="1">
                <a:latin typeface="inter-regular"/>
              </a:rPr>
              <a:t>ArrayDeque</a:t>
            </a:r>
            <a:r>
              <a:rPr lang="en-IN" b="1" dirty="0">
                <a:latin typeface="inter-regular"/>
              </a:rPr>
              <a:t>&lt;String&gt;();</a:t>
            </a:r>
          </a:p>
          <a:p>
            <a:pPr algn="just"/>
            <a:r>
              <a:rPr lang="en-IN" b="1" dirty="0" err="1">
                <a:latin typeface="inter-regular"/>
              </a:rPr>
              <a:t>deque.offer</a:t>
            </a:r>
            <a:r>
              <a:rPr lang="en-IN" b="1" dirty="0">
                <a:latin typeface="inter-regular"/>
              </a:rPr>
              <a:t>("</a:t>
            </a:r>
            <a:r>
              <a:rPr lang="en-IN" b="1" dirty="0" err="1">
                <a:latin typeface="inter-regular"/>
              </a:rPr>
              <a:t>Durga</a:t>
            </a:r>
            <a:r>
              <a:rPr lang="en-IN" b="1" dirty="0">
                <a:latin typeface="inter-regular"/>
              </a:rPr>
              <a:t>");</a:t>
            </a:r>
          </a:p>
          <a:p>
            <a:pPr algn="just"/>
            <a:r>
              <a:rPr lang="en-IN" b="1" dirty="0" err="1">
                <a:latin typeface="inter-regular"/>
              </a:rPr>
              <a:t>deque.offer</a:t>
            </a:r>
            <a:r>
              <a:rPr lang="en-IN" b="1" dirty="0">
                <a:latin typeface="inter-regular"/>
              </a:rPr>
              <a:t>("</a:t>
            </a:r>
            <a:r>
              <a:rPr lang="en-IN" b="1" dirty="0" err="1">
                <a:latin typeface="inter-regular"/>
              </a:rPr>
              <a:t>Madhu</a:t>
            </a:r>
            <a:r>
              <a:rPr lang="en-IN" b="1" dirty="0">
                <a:latin typeface="inter-regular"/>
              </a:rPr>
              <a:t>");</a:t>
            </a:r>
          </a:p>
          <a:p>
            <a:pPr algn="just"/>
            <a:r>
              <a:rPr lang="en-IN" b="1" dirty="0" err="1">
                <a:latin typeface="inter-regular"/>
              </a:rPr>
              <a:t>deque.add</a:t>
            </a:r>
            <a:r>
              <a:rPr lang="en-IN" b="1" dirty="0">
                <a:latin typeface="inter-regular"/>
              </a:rPr>
              <a:t>("Naveen");</a:t>
            </a:r>
          </a:p>
          <a:p>
            <a:pPr algn="just"/>
            <a:r>
              <a:rPr lang="en-IN" b="1" dirty="0" err="1">
                <a:latin typeface="inter-regular"/>
              </a:rPr>
              <a:t>deque.offerFirst</a:t>
            </a:r>
            <a:r>
              <a:rPr lang="en-IN" b="1" dirty="0">
                <a:latin typeface="inter-regular"/>
              </a:rPr>
              <a:t>("Ramesh");</a:t>
            </a:r>
          </a:p>
          <a:p>
            <a:pPr algn="just"/>
            <a:r>
              <a:rPr lang="en-IN" b="1" dirty="0" err="1">
                <a:latin typeface="inter-regular"/>
              </a:rPr>
              <a:t>System.out.println</a:t>
            </a:r>
            <a:r>
              <a:rPr lang="en-IN" b="1" dirty="0">
                <a:latin typeface="inter-regular"/>
              </a:rPr>
              <a:t>("</a:t>
            </a:r>
            <a:r>
              <a:rPr lang="en-IN" b="1" dirty="0" err="1">
                <a:latin typeface="inter-regular"/>
              </a:rPr>
              <a:t>AfterofferFirstTraversal</a:t>
            </a:r>
            <a:r>
              <a:rPr lang="en-IN" b="1" dirty="0">
                <a:latin typeface="inter-regular"/>
              </a:rPr>
              <a:t>...");</a:t>
            </a:r>
          </a:p>
          <a:p>
            <a:pPr algn="just"/>
            <a:r>
              <a:rPr lang="en-IN" b="1" dirty="0">
                <a:latin typeface="inter-regular"/>
              </a:rPr>
              <a:t>for(String s:deque){</a:t>
            </a:r>
          </a:p>
          <a:p>
            <a:pPr algn="just"/>
            <a:r>
              <a:rPr lang="en-IN" b="1" dirty="0" err="1">
                <a:latin typeface="inter-regular"/>
              </a:rPr>
              <a:t>System.out.println</a:t>
            </a:r>
            <a:r>
              <a:rPr lang="en-IN" b="1" dirty="0">
                <a:latin typeface="inter-regular"/>
              </a:rPr>
              <a:t>(s);</a:t>
            </a:r>
          </a:p>
          <a:p>
            <a:pPr algn="just"/>
            <a:r>
              <a:rPr lang="en-IN" b="1" dirty="0">
                <a:latin typeface="inter-regular"/>
              </a:rPr>
              <a:t>}</a:t>
            </a:r>
          </a:p>
          <a:p>
            <a:pPr algn="just"/>
            <a:r>
              <a:rPr lang="en-IN" b="1" dirty="0" err="1">
                <a:latin typeface="inter-regular"/>
              </a:rPr>
              <a:t>deque.pollLast</a:t>
            </a:r>
            <a:r>
              <a:rPr lang="en-IN" b="1" dirty="0">
                <a:latin typeface="inter-regular"/>
              </a:rPr>
              <a:t>();</a:t>
            </a:r>
          </a:p>
          <a:p>
            <a:pPr algn="just"/>
            <a:r>
              <a:rPr lang="en-IN" b="1" dirty="0" err="1">
                <a:latin typeface="inter-regular"/>
              </a:rPr>
              <a:t>System.out.println</a:t>
            </a:r>
            <a:r>
              <a:rPr lang="en-IN" b="1" dirty="0">
                <a:latin typeface="inter-regular"/>
              </a:rPr>
              <a:t>("</a:t>
            </a:r>
            <a:r>
              <a:rPr lang="en-IN" b="1" dirty="0" err="1">
                <a:latin typeface="inter-regular"/>
              </a:rPr>
              <a:t>AfterpollLast</a:t>
            </a:r>
            <a:r>
              <a:rPr lang="en-IN" b="1" dirty="0">
                <a:latin typeface="inter-regular"/>
              </a:rPr>
              <a:t>()Traversal...");</a:t>
            </a:r>
          </a:p>
          <a:p>
            <a:pPr algn="just"/>
            <a:r>
              <a:rPr lang="en-IN" b="1" dirty="0">
                <a:latin typeface="inter-regular"/>
              </a:rPr>
              <a:t>for(String s:deque){</a:t>
            </a:r>
          </a:p>
          <a:p>
            <a:pPr algn="just"/>
            <a:r>
              <a:rPr lang="en-IN" b="1" dirty="0" err="1">
                <a:latin typeface="inter-regular"/>
              </a:rPr>
              <a:t>System.out.println</a:t>
            </a:r>
            <a:r>
              <a:rPr lang="en-IN" b="1" dirty="0">
                <a:latin typeface="inter-regular"/>
              </a:rPr>
              <a:t>(s);</a:t>
            </a:r>
          </a:p>
          <a:p>
            <a:pPr algn="just"/>
            <a:r>
              <a:rPr lang="en-IN" b="1" dirty="0">
                <a:latin typeface="inter-regular"/>
              </a:rPr>
              <a:t>}</a:t>
            </a:r>
          </a:p>
          <a:p>
            <a:pPr algn="just"/>
            <a:r>
              <a:rPr lang="en-IN" b="1" dirty="0">
                <a:latin typeface="inter-regular"/>
              </a:rPr>
              <a:t>}</a:t>
            </a:r>
          </a:p>
          <a:p>
            <a:pPr algn="just"/>
            <a:r>
              <a:rPr lang="en-IN" b="1" dirty="0">
                <a:latin typeface="inter-regular"/>
              </a:rPr>
              <a:t>}</a:t>
            </a:r>
            <a:endParaRPr lang="en-IN" b="0" i="0" dirty="0">
              <a:effectLst/>
              <a:latin typeface="inter-regular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8762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3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4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1216" y="1114212"/>
            <a:ext cx="1132053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inter-regular"/>
              </a:rPr>
              <a:t>Map: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/>
              <a:t> </a:t>
            </a:r>
            <a:r>
              <a:rPr lang="en-US" sz="2400" dirty="0" smtClean="0"/>
              <a:t>It</a:t>
            </a:r>
            <a:r>
              <a:rPr lang="en-US" sz="2400" dirty="0"/>
              <a:t> stores </a:t>
            </a:r>
            <a:r>
              <a:rPr lang="en-US" sz="2400" dirty="0" smtClean="0"/>
              <a:t>group of objects as </a:t>
            </a:r>
            <a:r>
              <a:rPr lang="en-US" sz="2400" dirty="0"/>
              <a:t>key and </a:t>
            </a:r>
            <a:r>
              <a:rPr lang="en-US" sz="2400" dirty="0" smtClean="0"/>
              <a:t>value pair.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It</a:t>
            </a:r>
            <a:r>
              <a:rPr lang="en-US" sz="2400" dirty="0"/>
              <a:t> </a:t>
            </a:r>
            <a:r>
              <a:rPr lang="en-US" sz="2400" dirty="0" smtClean="0"/>
              <a:t>doesn’t </a:t>
            </a:r>
            <a:r>
              <a:rPr lang="en-US" sz="2400" dirty="0"/>
              <a:t>allows duplicate keys, but allows duplicate values.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</a:t>
            </a:r>
            <a:r>
              <a:rPr lang="en-US" sz="2400" dirty="0" smtClean="0"/>
              <a:t>ach </a:t>
            </a:r>
            <a:r>
              <a:rPr lang="en-US" sz="2400" dirty="0"/>
              <a:t>key can map to at most one value only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Each key-value pair is called </a:t>
            </a:r>
            <a:r>
              <a:rPr lang="en-US" sz="2400" dirty="0" smtClean="0">
                <a:solidFill>
                  <a:srgbClr val="FF0000"/>
                </a:solidFill>
              </a:rPr>
              <a:t>Entry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US" sz="2400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4101" y="3049902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 smtClean="0">
                <a:solidFill>
                  <a:srgbClr val="273239"/>
                </a:solidFill>
                <a:latin typeface="urw-din"/>
              </a:rPr>
              <a:t>Methods</a:t>
            </a:r>
            <a:endParaRPr lang="en-IN" sz="2400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101" y="3385153"/>
            <a:ext cx="118979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tx2"/>
                </a:solidFill>
              </a:rPr>
              <a:t>Object put(Object key, Object value)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IN" sz="2800" b="1" dirty="0" smtClean="0">
                <a:solidFill>
                  <a:schemeClr val="tx2"/>
                </a:solidFill>
              </a:rPr>
              <a:t>void </a:t>
            </a:r>
            <a:r>
              <a:rPr lang="en-IN" sz="2800" b="1" dirty="0" err="1" smtClean="0">
                <a:solidFill>
                  <a:schemeClr val="tx2"/>
                </a:solidFill>
              </a:rPr>
              <a:t>putAll</a:t>
            </a:r>
            <a:r>
              <a:rPr lang="en-IN" sz="2800" b="1" dirty="0" smtClean="0">
                <a:solidFill>
                  <a:schemeClr val="tx2"/>
                </a:solidFill>
              </a:rPr>
              <a:t>(Map map)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IN" sz="2800" b="1" dirty="0" smtClean="0">
                <a:solidFill>
                  <a:schemeClr val="tx2"/>
                </a:solidFill>
              </a:rPr>
              <a:t>V get(Object key):</a:t>
            </a:r>
            <a:r>
              <a:rPr lang="en-US" sz="2800" b="1" dirty="0" smtClean="0">
                <a:solidFill>
                  <a:schemeClr val="tx2"/>
                </a:solidFill>
              </a:rPr>
              <a:t>remove()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tx2"/>
                </a:solidFill>
              </a:rPr>
              <a:t> </a:t>
            </a:r>
            <a:r>
              <a:rPr lang="en-IN" sz="2800" b="1" dirty="0" smtClean="0">
                <a:solidFill>
                  <a:schemeClr val="tx2"/>
                </a:solidFill>
              </a:rPr>
              <a:t>V remove(Object key)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800" b="1" dirty="0" err="1" smtClean="0">
                <a:solidFill>
                  <a:schemeClr val="tx2"/>
                </a:solidFill>
              </a:rPr>
              <a:t>boolean</a:t>
            </a:r>
            <a:r>
              <a:rPr lang="en-US" sz="2800" b="1" dirty="0" smtClean="0">
                <a:solidFill>
                  <a:schemeClr val="tx2"/>
                </a:solidFill>
              </a:rPr>
              <a:t> remove(Object key, Object value)</a:t>
            </a:r>
            <a:endParaRPr lang="en-US" sz="2800" dirty="0" smtClean="0"/>
          </a:p>
        </p:txBody>
      </p:sp>
      <p:sp>
        <p:nvSpPr>
          <p:cNvPr id="3" name="Rectangle 2"/>
          <p:cNvSpPr/>
          <p:nvPr/>
        </p:nvSpPr>
        <p:spPr>
          <a:xfrm>
            <a:off x="6765514" y="3532557"/>
            <a:ext cx="5426486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2"/>
                </a:solidFill>
              </a:rPr>
              <a:t>Object </a:t>
            </a:r>
            <a:r>
              <a:rPr lang="en-US" sz="2800" b="1" dirty="0" err="1" smtClean="0">
                <a:solidFill>
                  <a:schemeClr val="tx2"/>
                </a:solidFill>
              </a:rPr>
              <a:t>containsKey</a:t>
            </a:r>
            <a:r>
              <a:rPr lang="en-US" sz="2800" b="1" dirty="0" smtClean="0">
                <a:solidFill>
                  <a:schemeClr val="tx2"/>
                </a:solidFill>
              </a:rPr>
              <a:t>(Object key)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2"/>
                </a:solidFill>
              </a:rPr>
              <a:t>Object </a:t>
            </a:r>
            <a:r>
              <a:rPr lang="en-US" sz="2800" b="1" dirty="0" err="1" smtClean="0">
                <a:solidFill>
                  <a:schemeClr val="tx2"/>
                </a:solidFill>
              </a:rPr>
              <a:t>containsValue</a:t>
            </a:r>
            <a:r>
              <a:rPr lang="en-US" sz="2800" b="1" dirty="0" smtClean="0">
                <a:solidFill>
                  <a:schemeClr val="tx2"/>
                </a:solidFill>
              </a:rPr>
              <a:t>(Object value)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tx2"/>
                </a:solidFill>
              </a:rPr>
              <a:t>Set </a:t>
            </a:r>
            <a:r>
              <a:rPr lang="en-US" sz="2800" b="1" dirty="0" err="1" smtClean="0">
                <a:solidFill>
                  <a:schemeClr val="tx2"/>
                </a:solidFill>
              </a:rPr>
              <a:t>valueSet</a:t>
            </a:r>
            <a:r>
              <a:rPr lang="en-US" sz="2800" b="1" dirty="0" smtClean="0">
                <a:solidFill>
                  <a:schemeClr val="tx2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tx2"/>
                </a:solidFill>
              </a:rPr>
              <a:t>Set </a:t>
            </a:r>
            <a:r>
              <a:rPr lang="en-US" sz="2800" b="1" dirty="0" err="1" smtClean="0">
                <a:solidFill>
                  <a:schemeClr val="tx2"/>
                </a:solidFill>
              </a:rPr>
              <a:t>keySet</a:t>
            </a:r>
            <a:r>
              <a:rPr lang="en-US" sz="2800" b="1" dirty="0" smtClean="0">
                <a:solidFill>
                  <a:schemeClr val="tx2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chemeClr val="tx2"/>
                </a:solidFill>
              </a:rPr>
              <a:t>Set </a:t>
            </a:r>
            <a:r>
              <a:rPr lang="en-US" sz="2800" b="1" dirty="0" err="1" smtClean="0">
                <a:solidFill>
                  <a:schemeClr val="tx2"/>
                </a:solidFill>
              </a:rPr>
              <a:t>entrySet</a:t>
            </a:r>
            <a:r>
              <a:rPr lang="en-US" sz="2800" b="1" dirty="0" smtClean="0">
                <a:solidFill>
                  <a:schemeClr val="tx2"/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5945748" y="2504748"/>
            <a:ext cx="62462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inter-regular"/>
              </a:rPr>
              <a:t>Entry: 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sz="2400" dirty="0"/>
              <a:t>Each key-value pair is called </a:t>
            </a:r>
            <a:r>
              <a:rPr lang="en-US" sz="2400" dirty="0">
                <a:solidFill>
                  <a:srgbClr val="FF0000"/>
                </a:solidFill>
              </a:rPr>
              <a:t>Entry</a:t>
            </a:r>
            <a:r>
              <a:rPr lang="en-US" sz="2400" dirty="0" smtClean="0"/>
              <a:t>.</a:t>
            </a:r>
            <a:r>
              <a:rPr lang="en-US" sz="2400" dirty="0"/>
              <a:t>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Entry Interface defined in Map Interface.</a:t>
            </a:r>
            <a:endParaRPr lang="en-US" sz="2400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3989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2946" y="3471584"/>
            <a:ext cx="936836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err="1" smtClean="0"/>
              <a:t>HashMap</a:t>
            </a:r>
            <a:r>
              <a:rPr lang="en-IN" sz="2800" dirty="0" smtClean="0"/>
              <a:t> </a:t>
            </a:r>
            <a:r>
              <a:rPr lang="en-IN" sz="2800" dirty="0" err="1" smtClean="0"/>
              <a:t>hm</a:t>
            </a:r>
            <a:r>
              <a:rPr lang="en-IN" sz="2800" dirty="0" smtClean="0"/>
              <a:t>=new </a:t>
            </a:r>
            <a:r>
              <a:rPr lang="en-IN" sz="2800" dirty="0" err="1" smtClean="0"/>
              <a:t>HashMap</a:t>
            </a:r>
            <a:r>
              <a:rPr lang="en-IN" sz="2800" dirty="0" smtClean="0"/>
              <a:t>();</a:t>
            </a:r>
            <a:endParaRPr lang="en-IN" sz="2800" dirty="0"/>
          </a:p>
          <a:p>
            <a:endParaRPr lang="en-IN" sz="2800" dirty="0"/>
          </a:p>
          <a:p>
            <a:r>
              <a:rPr lang="en-IN" sz="2800" dirty="0" err="1" smtClean="0"/>
              <a:t>HashMap</a:t>
            </a:r>
            <a:r>
              <a:rPr lang="en-IN" sz="2800" dirty="0" smtClean="0"/>
              <a:t> </a:t>
            </a:r>
            <a:r>
              <a:rPr lang="en-IN" sz="2800" dirty="0" err="1" smtClean="0"/>
              <a:t>hm</a:t>
            </a:r>
            <a:r>
              <a:rPr lang="en-IN" sz="2800" dirty="0" smtClean="0"/>
              <a:t>=new </a:t>
            </a:r>
            <a:r>
              <a:rPr lang="en-IN" sz="2800" dirty="0" err="1" smtClean="0"/>
              <a:t>HashMap</a:t>
            </a:r>
            <a:r>
              <a:rPr lang="en-IN" sz="2800" dirty="0" smtClean="0"/>
              <a:t>(</a:t>
            </a:r>
            <a:r>
              <a:rPr lang="en-IN" sz="2800" dirty="0" err="1" smtClean="0"/>
              <a:t>int</a:t>
            </a:r>
            <a:r>
              <a:rPr lang="en-IN" sz="2800" dirty="0" smtClean="0"/>
              <a:t> </a:t>
            </a:r>
            <a:r>
              <a:rPr lang="en-IN" sz="2800" dirty="0"/>
              <a:t>capacity</a:t>
            </a:r>
            <a:r>
              <a:rPr lang="en-IN" sz="2800" dirty="0" smtClean="0"/>
              <a:t>)</a:t>
            </a:r>
            <a:endParaRPr lang="en-IN" sz="2800" dirty="0"/>
          </a:p>
          <a:p>
            <a:endParaRPr lang="en-IN" sz="2800" dirty="0"/>
          </a:p>
          <a:p>
            <a:r>
              <a:rPr lang="en-IN" sz="2800" dirty="0" err="1" smtClean="0"/>
              <a:t>HashMap</a:t>
            </a:r>
            <a:r>
              <a:rPr lang="en-IN" sz="2800" dirty="0" smtClean="0"/>
              <a:t> </a:t>
            </a:r>
            <a:r>
              <a:rPr lang="en-IN" sz="2800" dirty="0" err="1" smtClean="0"/>
              <a:t>hm</a:t>
            </a:r>
            <a:r>
              <a:rPr lang="en-IN" sz="2800" dirty="0" smtClean="0"/>
              <a:t>=new </a:t>
            </a:r>
            <a:r>
              <a:rPr lang="en-IN" sz="2800" dirty="0" err="1" smtClean="0"/>
              <a:t>HashMap</a:t>
            </a:r>
            <a:r>
              <a:rPr lang="en-IN" sz="2800" dirty="0" smtClean="0"/>
              <a:t>(</a:t>
            </a:r>
            <a:r>
              <a:rPr lang="en-IN" sz="2800" dirty="0" err="1" smtClean="0"/>
              <a:t>int</a:t>
            </a:r>
            <a:r>
              <a:rPr lang="en-IN" sz="2800" dirty="0" smtClean="0"/>
              <a:t> </a:t>
            </a:r>
            <a:r>
              <a:rPr lang="en-IN" sz="2800" dirty="0"/>
              <a:t>capacity, float </a:t>
            </a:r>
            <a:r>
              <a:rPr lang="en-IN" sz="2800" dirty="0" err="1"/>
              <a:t>fillratio</a:t>
            </a:r>
            <a:r>
              <a:rPr lang="en-IN" sz="2800" dirty="0"/>
              <a:t>):</a:t>
            </a:r>
          </a:p>
          <a:p>
            <a:endParaRPr lang="en-IN" sz="2800" dirty="0"/>
          </a:p>
          <a:p>
            <a:r>
              <a:rPr lang="en-IN" sz="2800" dirty="0" err="1" smtClean="0"/>
              <a:t>HashMap</a:t>
            </a:r>
            <a:r>
              <a:rPr lang="en-IN" sz="2800" dirty="0" smtClean="0"/>
              <a:t> </a:t>
            </a:r>
            <a:r>
              <a:rPr lang="en-IN" sz="2800" dirty="0" err="1" smtClean="0"/>
              <a:t>hm</a:t>
            </a:r>
            <a:r>
              <a:rPr lang="en-IN" sz="2800" dirty="0" smtClean="0"/>
              <a:t>=new </a:t>
            </a:r>
            <a:r>
              <a:rPr lang="en-IN" sz="2800" dirty="0" err="1" smtClean="0"/>
              <a:t>HashMap</a:t>
            </a:r>
            <a:r>
              <a:rPr lang="en-IN" sz="2800" dirty="0" smtClean="0"/>
              <a:t>(Map </a:t>
            </a:r>
            <a:r>
              <a:rPr lang="en-IN" sz="2800" dirty="0"/>
              <a:t>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09" y="900836"/>
            <a:ext cx="1114461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B050"/>
                </a:solidFill>
                <a:latin typeface="inter-regular"/>
              </a:rPr>
              <a:t>HashMap</a:t>
            </a:r>
            <a:r>
              <a:rPr lang="en-US" sz="3200" b="1" dirty="0" smtClean="0">
                <a:solidFill>
                  <a:srgbClr val="00B050"/>
                </a:solidFill>
                <a:latin typeface="inter-regular"/>
              </a:rPr>
              <a:t> : </a:t>
            </a:r>
            <a:r>
              <a:rPr lang="en-US" sz="2400" dirty="0" smtClean="0"/>
              <a:t>The </a:t>
            </a:r>
            <a:r>
              <a:rPr lang="en-US" sz="2400" dirty="0" err="1" smtClean="0"/>
              <a:t>HashMap</a:t>
            </a:r>
            <a:r>
              <a:rPr lang="en-US" sz="2400" dirty="0" smtClean="0"/>
              <a:t> class provides the facility of </a:t>
            </a:r>
            <a:r>
              <a:rPr lang="en-IN" sz="2400" dirty="0" err="1" smtClean="0"/>
              <a:t>HashTable</a:t>
            </a:r>
            <a:r>
              <a:rPr lang="en-IN" sz="2400" dirty="0" smtClean="0"/>
              <a:t> </a:t>
            </a:r>
            <a:r>
              <a:rPr lang="en-IN" sz="2400" dirty="0" err="1" smtClean="0"/>
              <a:t>datastructure</a:t>
            </a:r>
            <a:r>
              <a:rPr lang="en-IN" sz="2400" dirty="0" smtClean="0"/>
              <a:t> .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Duplicate key not allowed and Values can be repeated.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/>
              <a:t>Null keys and values not allowed.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US" sz="2400" dirty="0" err="1" smtClean="0"/>
              <a:t>ArrayDeque</a:t>
            </a:r>
            <a:r>
              <a:rPr lang="en-US" sz="2400" dirty="0" smtClean="0"/>
              <a:t> implements </a:t>
            </a:r>
            <a:r>
              <a:rPr lang="en-US" sz="2400" dirty="0" err="1" smtClean="0"/>
              <a:t>serializable</a:t>
            </a:r>
            <a:r>
              <a:rPr lang="en-US" sz="2400" dirty="0" smtClean="0"/>
              <a:t> and </a:t>
            </a:r>
            <a:r>
              <a:rPr lang="en-US" sz="2400" dirty="0" err="1" smtClean="0"/>
              <a:t>clonable</a:t>
            </a:r>
            <a:r>
              <a:rPr lang="en-US" sz="2400" dirty="0" smtClean="0"/>
              <a:t> Interfaces.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675356" y="2771304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5007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9513" y="1084954"/>
            <a:ext cx="1084923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smtClean="0"/>
              <a:t>import java.util.*;</a:t>
            </a:r>
          </a:p>
          <a:p>
            <a:r>
              <a:rPr lang="en-US" sz="2000" smtClean="0"/>
              <a:t>public class HashMapDemo {</a:t>
            </a:r>
          </a:p>
          <a:p>
            <a:endParaRPr lang="en-US" sz="2000" smtClean="0"/>
          </a:p>
          <a:p>
            <a:r>
              <a:rPr lang="en-US" sz="2000" smtClean="0"/>
              <a:t>	public static void main(String[] args) {</a:t>
            </a:r>
          </a:p>
          <a:p>
            <a:r>
              <a:rPr lang="en-US" sz="2000" smtClean="0"/>
              <a:t>		Scanner read = new Scanner(System.in);</a:t>
            </a:r>
          </a:p>
          <a:p>
            <a:r>
              <a:rPr lang="en-US" sz="2000" smtClean="0"/>
              <a:t>		HashMap&lt;Integer,String&gt; studinfo = new HashMap&lt;Integer,String&gt;();</a:t>
            </a:r>
          </a:p>
          <a:p>
            <a:r>
              <a:rPr lang="en-US" sz="2000" smtClean="0"/>
              <a:t>		studinfo.put(501, "Durga");</a:t>
            </a:r>
          </a:p>
          <a:p>
            <a:r>
              <a:rPr lang="en-US" sz="2000" smtClean="0"/>
              <a:t>		studinfo.put(510, "Madhu");</a:t>
            </a:r>
          </a:p>
          <a:p>
            <a:r>
              <a:rPr lang="en-US" sz="2000" smtClean="0"/>
              <a:t>		studinfo.put(507, "Naveen");</a:t>
            </a:r>
          </a:p>
          <a:p>
            <a:r>
              <a:rPr lang="en-US" sz="2000" smtClean="0"/>
              <a:t>		studinfo.put(512, "Ramesh"); </a:t>
            </a:r>
          </a:p>
          <a:p>
            <a:r>
              <a:rPr lang="en-US" sz="2000" smtClean="0"/>
              <a:t>		System.out.println("Student Information\n" + studinfo);</a:t>
            </a:r>
          </a:p>
          <a:p>
            <a:r>
              <a:rPr lang="en-US" sz="2000" smtClean="0"/>
              <a:t>		System.out.println("Employee IDs : " + studinfo.keySet());</a:t>
            </a:r>
          </a:p>
          <a:p>
            <a:r>
              <a:rPr lang="en-US" sz="2000" smtClean="0"/>
              <a:t>		 for(Map.Entry m:studinfo.entrySet())</a:t>
            </a:r>
          </a:p>
          <a:p>
            <a:r>
              <a:rPr lang="en-US" sz="2000" smtClean="0"/>
              <a:t>		{    </a:t>
            </a:r>
          </a:p>
          <a:p>
            <a:r>
              <a:rPr lang="en-US" sz="2000" smtClean="0"/>
              <a:t>      		 System.out.println(m.getKey()+" "+m.getValue());   </a:t>
            </a:r>
          </a:p>
          <a:p>
            <a:r>
              <a:rPr lang="en-US" sz="2000" smtClean="0"/>
              <a:t>		}</a:t>
            </a:r>
          </a:p>
          <a:p>
            <a:r>
              <a:rPr lang="en-US" sz="2000" smtClean="0"/>
              <a:t>}	} </a:t>
            </a:r>
            <a:endParaRPr lang="en-US" sz="200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48179" y="1334998"/>
            <a:ext cx="371475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7183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276" y="3253870"/>
            <a:ext cx="1135392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sz="3200" b="1" dirty="0" err="1" smtClean="0">
                <a:hlinkClick r:id="rId3"/>
              </a:rPr>
              <a:t>LinkedHashMap</a:t>
            </a:r>
            <a:r>
              <a:rPr lang="en-US" sz="3200" dirty="0" smtClean="0"/>
              <a:t>():</a:t>
            </a:r>
          </a:p>
          <a:p>
            <a:pPr fontAlgn="t"/>
            <a:r>
              <a:rPr lang="en-US" dirty="0" smtClean="0"/>
              <a:t>Constructs an empty insertion-ordered </a:t>
            </a:r>
            <a:r>
              <a:rPr lang="en-US" dirty="0" err="1" smtClean="0"/>
              <a:t>LinkedHashMap</a:t>
            </a:r>
            <a:r>
              <a:rPr lang="en-US" dirty="0" smtClean="0"/>
              <a:t> instance with the default initial capacity (16) and load factor (0.75).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09" y="900836"/>
            <a:ext cx="109965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00B050"/>
                </a:solidFill>
                <a:latin typeface="inter-regular"/>
              </a:rPr>
              <a:t>LinkedHashMap</a:t>
            </a:r>
            <a:r>
              <a:rPr lang="en-US" sz="2400" b="1" dirty="0" smtClean="0">
                <a:solidFill>
                  <a:srgbClr val="00B050"/>
                </a:solidFill>
                <a:latin typeface="inter-regular"/>
              </a:rPr>
              <a:t> : </a:t>
            </a:r>
            <a:r>
              <a:rPr lang="en-US" dirty="0" smtClean="0"/>
              <a:t>The </a:t>
            </a:r>
            <a:r>
              <a:rPr lang="en-US" dirty="0" err="1" smtClean="0"/>
              <a:t>HashMap</a:t>
            </a:r>
            <a:r>
              <a:rPr lang="en-US" dirty="0" smtClean="0"/>
              <a:t> class provides the facility of </a:t>
            </a:r>
            <a:r>
              <a:rPr lang="en-IN" dirty="0" err="1" smtClean="0"/>
              <a:t>HashTable</a:t>
            </a:r>
            <a:r>
              <a:rPr lang="en-IN" dirty="0" smtClean="0"/>
              <a:t> </a:t>
            </a:r>
            <a:r>
              <a:rPr lang="en-IN" dirty="0" err="1" smtClean="0"/>
              <a:t>datastructure</a:t>
            </a:r>
            <a:r>
              <a:rPr lang="en-IN" dirty="0" smtClean="0"/>
              <a:t> .</a:t>
            </a:r>
            <a:endParaRPr lang="en-US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/>
              <a:t>Duplicate key not allowed and Values can be repeated.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/>
              <a:t>Null key is allowed only once and values null are allowed.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US" dirty="0" err="1" smtClean="0"/>
              <a:t>ArrayDeque</a:t>
            </a:r>
            <a:r>
              <a:rPr lang="en-US" dirty="0" smtClean="0"/>
              <a:t> implements </a:t>
            </a:r>
            <a:r>
              <a:rPr lang="en-US" dirty="0" err="1" smtClean="0"/>
              <a:t>serializable</a:t>
            </a:r>
            <a:r>
              <a:rPr lang="en-US" dirty="0" smtClean="0"/>
              <a:t> and </a:t>
            </a:r>
            <a:r>
              <a:rPr lang="en-US" dirty="0" err="1" smtClean="0"/>
              <a:t>clonable</a:t>
            </a:r>
            <a:r>
              <a:rPr lang="en-US" dirty="0" smtClean="0"/>
              <a:t> Interfaces.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Insertion order preserved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396" y="2405544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5007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9513" y="1084954"/>
            <a:ext cx="1084923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import </a:t>
            </a:r>
            <a:r>
              <a:rPr lang="en-US" sz="1400" dirty="0" err="1" smtClean="0"/>
              <a:t>java.util</a:t>
            </a:r>
            <a:r>
              <a:rPr lang="en-US" sz="1400" dirty="0" smtClean="0"/>
              <a:t>.*;</a:t>
            </a:r>
          </a:p>
          <a:p>
            <a:r>
              <a:rPr lang="en-US" sz="1400" dirty="0" smtClean="0"/>
              <a:t>public class </a:t>
            </a:r>
            <a:r>
              <a:rPr lang="en-US" sz="1400" dirty="0" err="1" smtClean="0"/>
              <a:t>LinkedHashMapDemo</a:t>
            </a:r>
            <a:r>
              <a:rPr lang="en-US" sz="1400" dirty="0" smtClean="0"/>
              <a:t> </a:t>
            </a:r>
          </a:p>
          <a:p>
            <a:r>
              <a:rPr lang="en-US" sz="1400" dirty="0" smtClean="0"/>
              <a:t>{</a:t>
            </a:r>
          </a:p>
          <a:p>
            <a:r>
              <a:rPr lang="en-US" sz="1400" dirty="0" smtClean="0"/>
              <a:t>	public static void main(String[] </a:t>
            </a:r>
            <a:r>
              <a:rPr lang="en-US" sz="1400" dirty="0" err="1" smtClean="0"/>
              <a:t>args</a:t>
            </a:r>
            <a:r>
              <a:rPr lang="en-US" sz="1400" dirty="0" smtClean="0"/>
              <a:t>) </a:t>
            </a:r>
          </a:p>
          <a:p>
            <a:r>
              <a:rPr lang="en-US" sz="1400" dirty="0" smtClean="0"/>
              <a:t>	{</a:t>
            </a:r>
          </a:p>
          <a:p>
            <a:r>
              <a:rPr lang="en-US" sz="1400" dirty="0" smtClean="0"/>
              <a:t>		Scanner read = new Scanner(</a:t>
            </a:r>
            <a:r>
              <a:rPr lang="en-US" sz="1400" dirty="0" err="1" smtClean="0"/>
              <a:t>System.in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LinkedHashMap</a:t>
            </a:r>
            <a:r>
              <a:rPr lang="en-US" sz="1400" dirty="0" smtClean="0"/>
              <a:t> </a:t>
            </a:r>
            <a:r>
              <a:rPr lang="en-US" sz="1400" dirty="0" err="1" smtClean="0"/>
              <a:t>studinfo</a:t>
            </a:r>
            <a:r>
              <a:rPr lang="en-US" sz="1400" dirty="0" smtClean="0"/>
              <a:t> = new </a:t>
            </a:r>
            <a:r>
              <a:rPr lang="en-US" sz="1400" dirty="0" err="1" smtClean="0"/>
              <a:t>LinkedHashMap</a:t>
            </a:r>
            <a:r>
              <a:rPr lang="en-US" sz="1400" dirty="0" smtClean="0"/>
              <a:t>();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studinfo.put</a:t>
            </a:r>
            <a:r>
              <a:rPr lang="en-US" sz="1400" dirty="0" smtClean="0"/>
              <a:t>(501, "Durga");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studinfo.put</a:t>
            </a:r>
            <a:r>
              <a:rPr lang="en-US" sz="1400" dirty="0" smtClean="0"/>
              <a:t>(510, "</a:t>
            </a:r>
            <a:r>
              <a:rPr lang="en-US" sz="1400" dirty="0" err="1" smtClean="0"/>
              <a:t>Madhu</a:t>
            </a:r>
            <a:r>
              <a:rPr lang="en-US" sz="1400" dirty="0" smtClean="0"/>
              <a:t>");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studinfo.put</a:t>
            </a:r>
            <a:r>
              <a:rPr lang="en-US" sz="1400" dirty="0" smtClean="0"/>
              <a:t>(507, "</a:t>
            </a:r>
            <a:r>
              <a:rPr lang="en-US" sz="1400" dirty="0" err="1" smtClean="0"/>
              <a:t>Naveen</a:t>
            </a:r>
            <a:r>
              <a:rPr lang="en-US" sz="1400" dirty="0" smtClean="0"/>
              <a:t>");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studinfo.put</a:t>
            </a:r>
            <a:r>
              <a:rPr lang="en-US" sz="1400" dirty="0" smtClean="0"/>
              <a:t>(512, "</a:t>
            </a:r>
            <a:r>
              <a:rPr lang="en-US" sz="1400" dirty="0" err="1" smtClean="0"/>
              <a:t>Ramesh</a:t>
            </a:r>
            <a:r>
              <a:rPr lang="en-US" sz="1400" dirty="0" smtClean="0"/>
              <a:t>"); 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("Student Information\n" + </a:t>
            </a:r>
            <a:r>
              <a:rPr lang="en-US" sz="1400" dirty="0" err="1" smtClean="0"/>
              <a:t>studinfo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System.out.print</a:t>
            </a:r>
            <a:r>
              <a:rPr lang="en-US" sz="1400" dirty="0" smtClean="0"/>
              <a:t>("Enter </a:t>
            </a:r>
            <a:r>
              <a:rPr lang="en-US" sz="1400" dirty="0" err="1" smtClean="0"/>
              <a:t>Rollnumber</a:t>
            </a:r>
            <a:r>
              <a:rPr lang="en-US" sz="1400" dirty="0" smtClean="0"/>
              <a:t>: ");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int</a:t>
            </a:r>
            <a:r>
              <a:rPr lang="en-US" sz="1400" dirty="0" smtClean="0"/>
              <a:t> id = </a:t>
            </a:r>
            <a:r>
              <a:rPr lang="en-US" sz="1400" dirty="0" err="1" smtClean="0"/>
              <a:t>read.nextInt</a:t>
            </a:r>
            <a:r>
              <a:rPr lang="en-US" sz="1400" dirty="0" smtClean="0"/>
              <a:t>();</a:t>
            </a:r>
          </a:p>
          <a:p>
            <a:r>
              <a:rPr lang="en-US" sz="1400" dirty="0" smtClean="0"/>
              <a:t>		if(</a:t>
            </a:r>
            <a:r>
              <a:rPr lang="en-US" sz="1400" dirty="0" err="1" smtClean="0"/>
              <a:t>studinfo.containsKey</a:t>
            </a:r>
            <a:r>
              <a:rPr lang="en-US" sz="1400" dirty="0" smtClean="0"/>
              <a:t>(id)) </a:t>
            </a:r>
          </a:p>
          <a:p>
            <a:r>
              <a:rPr lang="en-US" sz="1400" dirty="0" smtClean="0"/>
              <a:t>		{	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("Student Name - " + </a:t>
            </a:r>
            <a:r>
              <a:rPr lang="en-US" sz="1400" dirty="0" err="1" smtClean="0"/>
              <a:t>studinfo.get</a:t>
            </a:r>
            <a:r>
              <a:rPr lang="en-US" sz="1400" dirty="0" smtClean="0"/>
              <a:t>(id));</a:t>
            </a:r>
          </a:p>
          <a:p>
            <a:r>
              <a:rPr lang="en-US" sz="1400" dirty="0" smtClean="0"/>
              <a:t>		}</a:t>
            </a:r>
          </a:p>
          <a:p>
            <a:r>
              <a:rPr lang="en-US" sz="1400" dirty="0" smtClean="0"/>
              <a:t>		else</a:t>
            </a:r>
          </a:p>
          <a:p>
            <a:r>
              <a:rPr lang="en-US" sz="1400" dirty="0" smtClean="0"/>
              <a:t>		{</a:t>
            </a:r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System.out.println</a:t>
            </a:r>
            <a:r>
              <a:rPr lang="en-US" sz="1400" dirty="0" smtClean="0"/>
              <a:t>("No Record Found");</a:t>
            </a:r>
          </a:p>
          <a:p>
            <a:r>
              <a:rPr lang="en-US" sz="1400" dirty="0" smtClean="0"/>
              <a:t>		}</a:t>
            </a:r>
          </a:p>
          <a:p>
            <a:r>
              <a:rPr lang="en-US" sz="1400" dirty="0" smtClean="0"/>
              <a:t>	}</a:t>
            </a:r>
          </a:p>
          <a:p>
            <a:r>
              <a:rPr lang="en-US" sz="1400" dirty="0" smtClean="0"/>
              <a:t>}</a:t>
            </a:r>
            <a:endParaRPr 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45630" y="2264229"/>
            <a:ext cx="35433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77183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3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4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0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1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7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8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4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5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1" dur="8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2" dur="8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8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8" dur="8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9" dur="8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8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0031" y="446435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 smtClean="0"/>
              <a:t>TreeMap</a:t>
            </a:r>
            <a:r>
              <a:rPr lang="en-IN" dirty="0" smtClean="0"/>
              <a:t> tm=new </a:t>
            </a:r>
            <a:r>
              <a:rPr lang="en-IN" dirty="0" err="1" smtClean="0"/>
              <a:t>TreeMap</a:t>
            </a:r>
            <a:r>
              <a:rPr lang="en-IN" dirty="0" smtClean="0"/>
              <a:t>();</a:t>
            </a:r>
            <a:endParaRPr lang="en-IN" dirty="0"/>
          </a:p>
          <a:p>
            <a:endParaRPr lang="en-IN" dirty="0"/>
          </a:p>
          <a:p>
            <a:r>
              <a:rPr lang="en-IN" dirty="0" err="1" smtClean="0"/>
              <a:t>TreeMap</a:t>
            </a:r>
            <a:r>
              <a:rPr lang="en-IN" dirty="0" smtClean="0"/>
              <a:t> tm=new </a:t>
            </a:r>
            <a:r>
              <a:rPr lang="en-IN" dirty="0" err="1" smtClean="0"/>
              <a:t>TreeMap</a:t>
            </a:r>
            <a:r>
              <a:rPr lang="en-IN" dirty="0" smtClean="0"/>
              <a:t>(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capacity</a:t>
            </a:r>
            <a:r>
              <a:rPr lang="en-IN" dirty="0" smtClean="0"/>
              <a:t>)</a:t>
            </a:r>
            <a:endParaRPr lang="en-IN" dirty="0"/>
          </a:p>
          <a:p>
            <a:endParaRPr lang="en-IN" dirty="0"/>
          </a:p>
          <a:p>
            <a:r>
              <a:rPr lang="en-IN" dirty="0" err="1" smtClean="0"/>
              <a:t>TreeMap</a:t>
            </a:r>
            <a:r>
              <a:rPr lang="en-IN" dirty="0" smtClean="0"/>
              <a:t> tm=new </a:t>
            </a:r>
            <a:r>
              <a:rPr lang="en-IN" dirty="0" err="1" smtClean="0"/>
              <a:t>TreeMap</a:t>
            </a:r>
            <a:r>
              <a:rPr lang="en-IN" dirty="0" smtClean="0"/>
              <a:t>(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capacity, float </a:t>
            </a:r>
            <a:r>
              <a:rPr lang="en-IN" dirty="0" err="1"/>
              <a:t>fillratio</a:t>
            </a:r>
            <a:r>
              <a:rPr lang="en-IN" dirty="0"/>
              <a:t>):</a:t>
            </a:r>
          </a:p>
          <a:p>
            <a:endParaRPr lang="en-IN" dirty="0"/>
          </a:p>
          <a:p>
            <a:r>
              <a:rPr lang="en-IN" dirty="0" err="1" smtClean="0"/>
              <a:t>TreeMap</a:t>
            </a:r>
            <a:r>
              <a:rPr lang="en-IN" dirty="0" smtClean="0"/>
              <a:t> tm=new </a:t>
            </a:r>
            <a:r>
              <a:rPr lang="en-IN" dirty="0" err="1" smtClean="0"/>
              <a:t>TreeMap</a:t>
            </a:r>
            <a:r>
              <a:rPr lang="en-IN" dirty="0" smtClean="0"/>
              <a:t>(Map </a:t>
            </a:r>
            <a:r>
              <a:rPr lang="en-IN" dirty="0"/>
              <a:t>m)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423" y="900836"/>
            <a:ext cx="11965577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solidFill>
                  <a:srgbClr val="00B050"/>
                </a:solidFill>
                <a:latin typeface="inter-regular"/>
              </a:rPr>
              <a:t>TreeMap</a:t>
            </a:r>
            <a:r>
              <a:rPr lang="en-US" sz="2800" b="1" dirty="0" smtClean="0">
                <a:solidFill>
                  <a:srgbClr val="00B050"/>
                </a:solidFill>
                <a:latin typeface="inter-regular"/>
              </a:rPr>
              <a:t> : </a:t>
            </a:r>
            <a:r>
              <a:rPr lang="en-US" sz="2400" dirty="0" smtClean="0"/>
              <a:t>The </a:t>
            </a:r>
            <a:r>
              <a:rPr lang="en-US" sz="2400" dirty="0" err="1" smtClean="0"/>
              <a:t>TreeMap</a:t>
            </a:r>
            <a:r>
              <a:rPr lang="en-US" sz="2400" dirty="0" smtClean="0"/>
              <a:t> class is a child class of </a:t>
            </a:r>
            <a:r>
              <a:rPr lang="en-US" sz="2400" dirty="0" err="1" smtClean="0"/>
              <a:t>AbstractMap</a:t>
            </a:r>
            <a:r>
              <a:rPr lang="en-US" sz="2400" dirty="0" smtClean="0"/>
              <a:t>, and it implements the </a:t>
            </a:r>
            <a:r>
              <a:rPr lang="en-US" sz="2400" dirty="0" err="1" smtClean="0"/>
              <a:t>NavigableMap</a:t>
            </a:r>
            <a:r>
              <a:rPr lang="en-US" sz="2400" dirty="0" smtClean="0"/>
              <a:t> interface which is a child interface of </a:t>
            </a:r>
            <a:r>
              <a:rPr lang="en-US" sz="2400" dirty="0" err="1" smtClean="0"/>
              <a:t>SortedMap</a:t>
            </a:r>
            <a:r>
              <a:rPr lang="en-US" sz="2400" dirty="0" smtClean="0"/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It is used to store the data in the form of key, value pair using a red-black tree concepts.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Duplicate key not allowed and Values can be repeated.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Null keys and values not allowed.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dirty="0" smtClean="0"/>
              <a:t> </a:t>
            </a:r>
            <a:r>
              <a:rPr lang="en-US" sz="2400" dirty="0" smtClean="0"/>
              <a:t>follows the ascending </a:t>
            </a:r>
            <a:r>
              <a:rPr lang="en-US" sz="2400" dirty="0" err="1" smtClean="0"/>
              <a:t>oreder</a:t>
            </a:r>
            <a:r>
              <a:rPr lang="en-US" sz="2400" dirty="0" smtClean="0"/>
              <a:t> based on keys.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553437" y="3955671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IN" sz="2400" b="1" dirty="0">
                <a:solidFill>
                  <a:srgbClr val="00B050"/>
                </a:solidFill>
                <a:latin typeface="urw-din"/>
              </a:rPr>
              <a:t>Constructors</a:t>
            </a:r>
            <a:endParaRPr lang="en-IN" sz="2400" b="1" i="0" dirty="0">
              <a:solidFill>
                <a:srgbClr val="00B050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5007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9967" y="901471"/>
            <a:ext cx="1215716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import </a:t>
            </a:r>
            <a:r>
              <a:rPr lang="en-US" sz="1400" dirty="0" err="1" smtClean="0"/>
              <a:t>java.util</a:t>
            </a:r>
            <a:r>
              <a:rPr lang="en-US" sz="1400" dirty="0" smtClean="0"/>
              <a:t>.*;</a:t>
            </a:r>
          </a:p>
          <a:p>
            <a:r>
              <a:rPr lang="en-US" sz="1400" dirty="0" smtClean="0"/>
              <a:t>class </a:t>
            </a:r>
            <a:r>
              <a:rPr lang="en-US" sz="1400" dirty="0" err="1" smtClean="0"/>
              <a:t>TreeMapDemo</a:t>
            </a:r>
            <a:endParaRPr lang="en-US" sz="1400" dirty="0" smtClean="0"/>
          </a:p>
          <a:p>
            <a:r>
              <a:rPr lang="en-US" sz="1400" dirty="0" smtClean="0"/>
              <a:t>{</a:t>
            </a:r>
          </a:p>
          <a:p>
            <a:r>
              <a:rPr lang="en-US" sz="1400" dirty="0" smtClean="0"/>
              <a:t>public static void main(String </a:t>
            </a:r>
            <a:r>
              <a:rPr lang="en-US" sz="1400" dirty="0" err="1" smtClean="0"/>
              <a:t>args</a:t>
            </a:r>
            <a:r>
              <a:rPr lang="en-US" sz="1400" dirty="0" smtClean="0"/>
              <a:t>[])</a:t>
            </a:r>
          </a:p>
          <a:p>
            <a:r>
              <a:rPr lang="en-US" sz="1400" dirty="0" smtClean="0"/>
              <a:t>{</a:t>
            </a:r>
          </a:p>
          <a:p>
            <a:r>
              <a:rPr lang="en-US" sz="1400" dirty="0" err="1" smtClean="0"/>
              <a:t>TreeMap</a:t>
            </a:r>
            <a:r>
              <a:rPr lang="en-US" sz="1400" dirty="0" smtClean="0"/>
              <a:t> </a:t>
            </a:r>
            <a:r>
              <a:rPr lang="en-US" sz="1400" dirty="0" err="1" smtClean="0"/>
              <a:t>studinfo</a:t>
            </a:r>
            <a:r>
              <a:rPr lang="en-US" sz="1400" dirty="0" smtClean="0"/>
              <a:t> =new </a:t>
            </a:r>
            <a:r>
              <a:rPr lang="en-US" sz="1400" dirty="0" err="1" smtClean="0"/>
              <a:t>TreeMap</a:t>
            </a:r>
            <a:r>
              <a:rPr lang="en-US" sz="1400" dirty="0" smtClean="0"/>
              <a:t>();//</a:t>
            </a:r>
          </a:p>
          <a:p>
            <a:r>
              <a:rPr lang="en-US" sz="1400" dirty="0" err="1" smtClean="0"/>
              <a:t>studinfo.put</a:t>
            </a:r>
            <a:r>
              <a:rPr lang="en-US" sz="1400" dirty="0" smtClean="0"/>
              <a:t>(501, "Durga");</a:t>
            </a:r>
          </a:p>
          <a:p>
            <a:r>
              <a:rPr lang="en-US" sz="1400" dirty="0" err="1" smtClean="0"/>
              <a:t>studinfo.put</a:t>
            </a:r>
            <a:r>
              <a:rPr lang="en-US" sz="1400" dirty="0" smtClean="0"/>
              <a:t>(510, "</a:t>
            </a:r>
            <a:r>
              <a:rPr lang="en-US" sz="1400" dirty="0" err="1" smtClean="0"/>
              <a:t>Madhu</a:t>
            </a:r>
            <a:r>
              <a:rPr lang="en-US" sz="1400" dirty="0" smtClean="0"/>
              <a:t>");</a:t>
            </a:r>
          </a:p>
          <a:p>
            <a:r>
              <a:rPr lang="en-US" sz="1400" dirty="0" err="1" smtClean="0"/>
              <a:t>studinfo.put</a:t>
            </a:r>
            <a:r>
              <a:rPr lang="en-US" sz="1400" dirty="0" smtClean="0"/>
              <a:t>(507, "</a:t>
            </a:r>
            <a:r>
              <a:rPr lang="en-US" sz="1400" dirty="0" err="1" smtClean="0"/>
              <a:t>Naveen</a:t>
            </a:r>
            <a:r>
              <a:rPr lang="en-US" sz="1400" dirty="0" smtClean="0"/>
              <a:t>");</a:t>
            </a:r>
          </a:p>
          <a:p>
            <a:r>
              <a:rPr lang="en-US" sz="1400" dirty="0" err="1" smtClean="0"/>
              <a:t>studinfo.put</a:t>
            </a:r>
            <a:r>
              <a:rPr lang="en-US" sz="1400" dirty="0" smtClean="0"/>
              <a:t>(512, "</a:t>
            </a:r>
            <a:r>
              <a:rPr lang="en-US" sz="1400" dirty="0" err="1" smtClean="0"/>
              <a:t>Ramesh</a:t>
            </a:r>
            <a:r>
              <a:rPr lang="en-US" sz="1400" dirty="0" smtClean="0"/>
              <a:t>"); </a:t>
            </a:r>
          </a:p>
          <a:p>
            <a:r>
              <a:rPr lang="en-US" sz="1400" dirty="0" err="1" smtClean="0"/>
              <a:t>System.out.println</a:t>
            </a:r>
            <a:r>
              <a:rPr lang="en-US" sz="1400" dirty="0" smtClean="0"/>
              <a:t>(</a:t>
            </a:r>
            <a:r>
              <a:rPr lang="en-US" sz="1400" dirty="0" err="1" smtClean="0"/>
              <a:t>studinfo</a:t>
            </a:r>
            <a:r>
              <a:rPr lang="en-US" sz="1400" dirty="0" smtClean="0"/>
              <a:t>);</a:t>
            </a:r>
          </a:p>
          <a:p>
            <a:r>
              <a:rPr lang="en-US" sz="1400" dirty="0" smtClean="0"/>
              <a:t>Set s =</a:t>
            </a:r>
            <a:r>
              <a:rPr lang="en-US" sz="1400" dirty="0" err="1" smtClean="0"/>
              <a:t>studinfo.keySet</a:t>
            </a:r>
            <a:r>
              <a:rPr lang="en-US" sz="1400" dirty="0" smtClean="0"/>
              <a:t>();</a:t>
            </a:r>
          </a:p>
          <a:p>
            <a:r>
              <a:rPr lang="en-US" sz="1400" dirty="0" err="1" smtClean="0"/>
              <a:t>System.out.println</a:t>
            </a:r>
            <a:r>
              <a:rPr lang="en-US" sz="1400" dirty="0" smtClean="0"/>
              <a:t>(s);</a:t>
            </a:r>
          </a:p>
          <a:p>
            <a:r>
              <a:rPr lang="en-US" sz="1400" dirty="0" smtClean="0"/>
              <a:t>Collection s1 =</a:t>
            </a:r>
            <a:r>
              <a:rPr lang="en-US" sz="1400" dirty="0" err="1" smtClean="0"/>
              <a:t>studinfo.values</a:t>
            </a:r>
            <a:r>
              <a:rPr lang="en-US" sz="1400" dirty="0" smtClean="0"/>
              <a:t>();</a:t>
            </a:r>
          </a:p>
          <a:p>
            <a:r>
              <a:rPr lang="en-US" sz="1400" dirty="0" err="1" smtClean="0"/>
              <a:t>System.out.println</a:t>
            </a:r>
            <a:r>
              <a:rPr lang="en-US" sz="1400" dirty="0" smtClean="0"/>
              <a:t>(s1);</a:t>
            </a:r>
          </a:p>
          <a:p>
            <a:r>
              <a:rPr lang="en-US" sz="1400" dirty="0" smtClean="0"/>
              <a:t>Set s2=</a:t>
            </a:r>
            <a:r>
              <a:rPr lang="en-US" sz="1400" dirty="0" err="1" smtClean="0"/>
              <a:t>studinfo.entrySet</a:t>
            </a:r>
            <a:r>
              <a:rPr lang="en-US" sz="1400" dirty="0" smtClean="0"/>
              <a:t>();</a:t>
            </a:r>
          </a:p>
          <a:p>
            <a:r>
              <a:rPr lang="en-US" sz="1400" dirty="0" err="1" smtClean="0"/>
              <a:t>Iterator</a:t>
            </a:r>
            <a:r>
              <a:rPr lang="en-US" sz="1400" dirty="0" smtClean="0"/>
              <a:t> it=s2.iterator();</a:t>
            </a:r>
          </a:p>
          <a:p>
            <a:r>
              <a:rPr lang="en-US" sz="1400" dirty="0" smtClean="0"/>
              <a:t>while(</a:t>
            </a:r>
            <a:r>
              <a:rPr lang="en-US" sz="1400" dirty="0" err="1" smtClean="0"/>
              <a:t>it.hasNext</a:t>
            </a:r>
            <a:r>
              <a:rPr lang="en-US" sz="1400" dirty="0" smtClean="0"/>
              <a:t>())</a:t>
            </a:r>
          </a:p>
          <a:p>
            <a:r>
              <a:rPr lang="en-US" sz="1400" dirty="0" smtClean="0"/>
              <a:t>{</a:t>
            </a:r>
          </a:p>
          <a:p>
            <a:r>
              <a:rPr lang="en-US" sz="1400" dirty="0" err="1" smtClean="0"/>
              <a:t>Map.Entry</a:t>
            </a:r>
            <a:r>
              <a:rPr lang="en-US" sz="1400" dirty="0" smtClean="0"/>
              <a:t> me=(</a:t>
            </a:r>
            <a:r>
              <a:rPr lang="en-US" sz="1400" dirty="0" err="1" smtClean="0"/>
              <a:t>Map.Entry</a:t>
            </a:r>
            <a:r>
              <a:rPr lang="en-US" sz="1400" dirty="0" smtClean="0"/>
              <a:t>)</a:t>
            </a:r>
            <a:r>
              <a:rPr lang="en-US" sz="1400" dirty="0" err="1" smtClean="0"/>
              <a:t>it.next</a:t>
            </a:r>
            <a:r>
              <a:rPr lang="en-US" sz="1400" dirty="0" smtClean="0"/>
              <a:t>();</a:t>
            </a:r>
          </a:p>
          <a:p>
            <a:r>
              <a:rPr lang="en-US" sz="1400" dirty="0" smtClean="0"/>
              <a:t>if(</a:t>
            </a:r>
            <a:r>
              <a:rPr lang="en-US" sz="1400" dirty="0" err="1" smtClean="0"/>
              <a:t>me.getKey</a:t>
            </a:r>
            <a:r>
              <a:rPr lang="en-US" sz="1400" dirty="0" smtClean="0"/>
              <a:t>().equals(“512"))</a:t>
            </a:r>
          </a:p>
          <a:p>
            <a:r>
              <a:rPr lang="en-US" sz="1400" dirty="0" smtClean="0"/>
              <a:t>{</a:t>
            </a:r>
          </a:p>
          <a:p>
            <a:r>
              <a:rPr lang="en-US" sz="1400" dirty="0" err="1" smtClean="0"/>
              <a:t>me.setValue</a:t>
            </a:r>
            <a:r>
              <a:rPr lang="en-US" sz="1400" dirty="0" smtClean="0"/>
              <a:t>(“</a:t>
            </a:r>
            <a:r>
              <a:rPr lang="en-US" sz="1400" dirty="0" err="1" smtClean="0"/>
              <a:t>RameshTendulkar</a:t>
            </a:r>
            <a:r>
              <a:rPr lang="en-US" sz="1400" dirty="0" smtClean="0"/>
              <a:t>");</a:t>
            </a:r>
          </a:p>
          <a:p>
            <a:r>
              <a:rPr lang="en-US" sz="1400" dirty="0" smtClean="0"/>
              <a:t>}</a:t>
            </a:r>
          </a:p>
          <a:p>
            <a:r>
              <a:rPr lang="en-US" sz="1400" dirty="0" err="1" smtClean="0"/>
              <a:t>System.out.println</a:t>
            </a:r>
            <a:r>
              <a:rPr lang="en-US" sz="1400" dirty="0" smtClean="0"/>
              <a:t>(</a:t>
            </a:r>
            <a:r>
              <a:rPr lang="en-US" sz="1400" dirty="0" err="1" smtClean="0"/>
              <a:t>me.getKey</a:t>
            </a:r>
            <a:r>
              <a:rPr lang="en-US" sz="1400" dirty="0" smtClean="0"/>
              <a:t>()+"---&gt;"+</a:t>
            </a:r>
            <a:r>
              <a:rPr lang="en-US" sz="1400" dirty="0" err="1" smtClean="0"/>
              <a:t>me.getValue</a:t>
            </a:r>
            <a:r>
              <a:rPr lang="en-US" sz="1400" dirty="0" smtClean="0"/>
              <a:t>());</a:t>
            </a:r>
          </a:p>
          <a:p>
            <a:r>
              <a:rPr lang="en-US" sz="1400" dirty="0" smtClean="0"/>
              <a:t>}}}</a:t>
            </a:r>
            <a:endParaRPr lang="en-US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1176" y="3002144"/>
            <a:ext cx="36195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5408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3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4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0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1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7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8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4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5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1" dur="8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2" dur="8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8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8" dur="8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9" dur="8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8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5" dur="8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6" dur="8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8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2" dur="8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3" dur="8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" dur="8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8663" y="2941930"/>
          <a:ext cx="11562080" cy="3713248"/>
        </p:xfrm>
        <a:graphic>
          <a:graphicData uri="http://schemas.openxmlformats.org/drawingml/2006/table">
            <a:tbl>
              <a:tblPr/>
              <a:tblGrid>
                <a:gridCol w="11562080"/>
              </a:tblGrid>
              <a:tr h="619875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Object put(Object key, Object value</a:t>
                      </a:r>
                      <a:r>
                        <a:rPr lang="en-US" sz="1200" b="1" dirty="0" smtClean="0">
                          <a:solidFill>
                            <a:srgbClr val="00B0F0"/>
                          </a:solidFill>
                          <a:latin typeface="Raleway"/>
                        </a:rPr>
                        <a:t>):  </a:t>
                      </a:r>
                      <a:r>
                        <a:rPr lang="en-US" sz="1200" dirty="0" smtClean="0">
                          <a:latin typeface="Raleway"/>
                        </a:rPr>
                        <a:t>Inserts </a:t>
                      </a:r>
                      <a:r>
                        <a:rPr lang="en-US" sz="1200" dirty="0">
                          <a:latin typeface="Raleway"/>
                        </a:rPr>
                        <a:t>a key and its value into the dictionary. </a:t>
                      </a:r>
                      <a:endParaRPr lang="en-US" sz="1200" dirty="0" smtClean="0">
                        <a:latin typeface="Raleway"/>
                      </a:endParaRPr>
                    </a:p>
                    <a:p>
                      <a:pPr fontAlgn="t"/>
                      <a:r>
                        <a:rPr lang="en-US" sz="1200" dirty="0" smtClean="0">
                          <a:latin typeface="Raleway"/>
                        </a:rPr>
                        <a:t>                                                                Returns </a:t>
                      </a:r>
                      <a:r>
                        <a:rPr lang="en-US" sz="1200" dirty="0">
                          <a:latin typeface="Raleway"/>
                        </a:rPr>
                        <a:t>null on success; returns the previous value associated with the key if the key is already exist.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3388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Object remove(Object </a:t>
                      </a:r>
                      <a:r>
                        <a:rPr lang="en-US" sz="1200" b="1" dirty="0" smtClean="0">
                          <a:solidFill>
                            <a:srgbClr val="00B0F0"/>
                          </a:solidFill>
                          <a:latin typeface="Raleway"/>
                        </a:rPr>
                        <a:t>key):</a:t>
                      </a:r>
                      <a:r>
                        <a:rPr lang="en-US" sz="1200" b="1" baseline="0" dirty="0" smtClean="0">
                          <a:solidFill>
                            <a:srgbClr val="00B0F0"/>
                          </a:solidFill>
                          <a:latin typeface="Raleway"/>
                        </a:rPr>
                        <a:t> 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  <a:latin typeface="Raleway"/>
                        </a:rPr>
                        <a:t>it </a:t>
                      </a:r>
                      <a:r>
                        <a:rPr lang="en-US" sz="1200" dirty="0" smtClean="0">
                          <a:latin typeface="Raleway"/>
                        </a:rPr>
                        <a:t>returns </a:t>
                      </a:r>
                      <a:r>
                        <a:rPr lang="en-US" sz="1200" dirty="0">
                          <a:latin typeface="Raleway"/>
                        </a:rPr>
                        <a:t>the value associated with given key and removes the same; Returns null if the key does not exist.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99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Object get(Object key</a:t>
                      </a:r>
                      <a:r>
                        <a:rPr lang="en-US" sz="1200" b="1" dirty="0" smtClean="0">
                          <a:solidFill>
                            <a:srgbClr val="00B0F0"/>
                          </a:solidFill>
                          <a:latin typeface="Raleway"/>
                        </a:rPr>
                        <a:t>): </a:t>
                      </a:r>
                      <a:r>
                        <a:rPr lang="en-US" sz="1200" dirty="0" smtClean="0">
                          <a:latin typeface="Raleway"/>
                        </a:rPr>
                        <a:t>It </a:t>
                      </a:r>
                      <a:r>
                        <a:rPr lang="en-US" sz="1200" dirty="0">
                          <a:latin typeface="Raleway"/>
                        </a:rPr>
                        <a:t>returns the value associated with given key; Returns null if the key does not exist.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99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Enumeration keys( )</a:t>
                      </a:r>
                      <a:r>
                        <a:rPr lang="en-US" sz="1200" dirty="0">
                          <a:latin typeface="Raleway"/>
                        </a:rPr>
                        <a:t>Returns an enumeration of the keys contained in the dictionary.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99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Enumeration elements( )</a:t>
                      </a:r>
                      <a:r>
                        <a:rPr lang="en-US" sz="1200" dirty="0">
                          <a:latin typeface="Raleway"/>
                        </a:rPr>
                        <a:t>Returns an enumeration of the values contained in the dictionary.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99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 err="1">
                          <a:solidFill>
                            <a:srgbClr val="00B0F0"/>
                          </a:solidFill>
                          <a:latin typeface="Raleway"/>
                        </a:rPr>
                        <a:t>boolean</a:t>
                      </a: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B0F0"/>
                          </a:solidFill>
                          <a:latin typeface="Raleway"/>
                        </a:rPr>
                        <a:t>isEmpty</a:t>
                      </a: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( )</a:t>
                      </a:r>
                      <a:r>
                        <a:rPr lang="en-US" sz="1200" dirty="0">
                          <a:latin typeface="Raleway"/>
                        </a:rPr>
                        <a:t>It returns true if dictionary has no elements; otherwise returns false.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399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 err="1">
                          <a:solidFill>
                            <a:srgbClr val="00B0F0"/>
                          </a:solidFill>
                          <a:latin typeface="Raleway"/>
                        </a:rPr>
                        <a:t>int</a:t>
                      </a:r>
                      <a:r>
                        <a:rPr lang="en-US" sz="1200" b="1" dirty="0">
                          <a:solidFill>
                            <a:srgbClr val="00B0F0"/>
                          </a:solidFill>
                          <a:latin typeface="Raleway"/>
                        </a:rPr>
                        <a:t> size( )</a:t>
                      </a:r>
                      <a:r>
                        <a:rPr lang="en-US" sz="1200" dirty="0">
                          <a:latin typeface="Raleway"/>
                        </a:rPr>
                        <a:t>It returns the total number of elements in the dictionary.</a:t>
                      </a:r>
                    </a:p>
                  </a:txBody>
                  <a:tcPr marL="52608" marR="52608" marT="52608" marB="52608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14269" y="1093317"/>
            <a:ext cx="116251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Raleway"/>
              </a:rPr>
              <a:t>Dictionary( ):</a:t>
            </a:r>
            <a:r>
              <a:rPr lang="en-US" dirty="0" smtClean="0"/>
              <a:t> which works like a Map. The Dictionary is an </a:t>
            </a:r>
            <a:r>
              <a:rPr lang="en-US" dirty="0" smtClean="0">
                <a:solidFill>
                  <a:srgbClr val="FF0000"/>
                </a:solidFill>
              </a:rPr>
              <a:t>abstract class </a:t>
            </a:r>
            <a:r>
              <a:rPr lang="en-US" dirty="0" smtClean="0"/>
              <a:t>used to store and manage </a:t>
            </a:r>
          </a:p>
          <a:p>
            <a:r>
              <a:rPr lang="en-US" dirty="0" smtClean="0"/>
              <a:t>elements in the form of a pair of key and value.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62555" y="1990295"/>
            <a:ext cx="3565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Raleway"/>
              </a:rPr>
              <a:t>Dictionary d=new Dictionary( )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8294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98490"/>
            <a:ext cx="1175841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 smtClean="0"/>
              <a:t>.*;</a:t>
            </a:r>
            <a:endParaRPr lang="en-IN" dirty="0"/>
          </a:p>
          <a:p>
            <a:r>
              <a:rPr lang="en-IN" dirty="0"/>
              <a:t>public class </a:t>
            </a:r>
            <a:r>
              <a:rPr lang="en-IN" dirty="0" err="1" smtClean="0"/>
              <a:t>DictionaryDemo</a:t>
            </a:r>
            <a:r>
              <a:rPr lang="en-IN" dirty="0" smtClean="0"/>
              <a:t> </a:t>
            </a:r>
            <a:r>
              <a:rPr lang="en-IN" dirty="0"/>
              <a:t>{</a:t>
            </a:r>
          </a:p>
          <a:p>
            <a:r>
              <a:rPr lang="en-IN" dirty="0"/>
              <a:t>	public static void main(String </a:t>
            </a:r>
            <a:r>
              <a:rPr lang="en-IN" dirty="0" err="1"/>
              <a:t>args</a:t>
            </a:r>
            <a:r>
              <a:rPr lang="en-IN" dirty="0"/>
              <a:t>[]) {</a:t>
            </a:r>
          </a:p>
          <a:p>
            <a:r>
              <a:rPr lang="en-IN" dirty="0"/>
              <a:t>		Dictionary </a:t>
            </a:r>
            <a:r>
              <a:rPr lang="en-IN" dirty="0" err="1"/>
              <a:t>dict</a:t>
            </a:r>
            <a:r>
              <a:rPr lang="en-IN" dirty="0"/>
              <a:t> = new </a:t>
            </a:r>
            <a:r>
              <a:rPr lang="en-IN" dirty="0" err="1"/>
              <a:t>Hashtable</a:t>
            </a:r>
            <a:r>
              <a:rPr lang="en-IN" dirty="0"/>
              <a:t>();</a:t>
            </a:r>
          </a:p>
          <a:p>
            <a:r>
              <a:rPr lang="en-IN" dirty="0"/>
              <a:t>		</a:t>
            </a:r>
            <a:r>
              <a:rPr lang="en-IN" dirty="0" err="1"/>
              <a:t>dict.put</a:t>
            </a:r>
            <a:r>
              <a:rPr lang="en-IN" dirty="0"/>
              <a:t>(501, "</a:t>
            </a:r>
            <a:r>
              <a:rPr lang="en-IN" dirty="0" err="1"/>
              <a:t>Durga</a:t>
            </a:r>
            <a:r>
              <a:rPr lang="en-IN" dirty="0"/>
              <a:t>");</a:t>
            </a:r>
          </a:p>
          <a:p>
            <a:r>
              <a:rPr lang="en-IN" dirty="0"/>
              <a:t>		</a:t>
            </a:r>
            <a:r>
              <a:rPr lang="en-IN" dirty="0" err="1"/>
              <a:t>dict.put</a:t>
            </a:r>
            <a:r>
              <a:rPr lang="en-IN" dirty="0"/>
              <a:t>(510, "</a:t>
            </a:r>
            <a:r>
              <a:rPr lang="en-IN" dirty="0" err="1"/>
              <a:t>Madhu</a:t>
            </a:r>
            <a:r>
              <a:rPr lang="en-IN" dirty="0"/>
              <a:t>");</a:t>
            </a:r>
          </a:p>
          <a:p>
            <a:r>
              <a:rPr lang="en-IN" dirty="0"/>
              <a:t>		</a:t>
            </a:r>
            <a:r>
              <a:rPr lang="en-IN" dirty="0" err="1"/>
              <a:t>dict.put</a:t>
            </a:r>
            <a:r>
              <a:rPr lang="en-IN" dirty="0"/>
              <a:t>(507, "Naveen");</a:t>
            </a:r>
          </a:p>
          <a:p>
            <a:r>
              <a:rPr lang="en-IN" dirty="0"/>
              <a:t>		</a:t>
            </a:r>
            <a:r>
              <a:rPr lang="en-IN" dirty="0" err="1"/>
              <a:t>dict.put</a:t>
            </a:r>
            <a:r>
              <a:rPr lang="en-IN" dirty="0"/>
              <a:t>(512, "Ramesh"); 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("Dictionary\n=&gt; " + </a:t>
            </a:r>
            <a:r>
              <a:rPr lang="en-IN" dirty="0" err="1"/>
              <a:t>dict</a:t>
            </a:r>
            <a:r>
              <a:rPr lang="en-IN" dirty="0"/>
              <a:t>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("\n\</a:t>
            </a:r>
            <a:r>
              <a:rPr lang="en-IN" dirty="0" err="1"/>
              <a:t>nValue</a:t>
            </a:r>
            <a:r>
              <a:rPr lang="en-IN" dirty="0"/>
              <a:t> associated with key 512 =&gt; " + </a:t>
            </a:r>
            <a:r>
              <a:rPr lang="en-IN" dirty="0" err="1"/>
              <a:t>dict.get</a:t>
            </a:r>
            <a:r>
              <a:rPr lang="en-IN" dirty="0"/>
              <a:t>(512));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nDictionary</a:t>
            </a:r>
            <a:r>
              <a:rPr lang="en-IN" dirty="0"/>
              <a:t> has " + </a:t>
            </a:r>
            <a:r>
              <a:rPr lang="en-IN" dirty="0" err="1"/>
              <a:t>dict.size</a:t>
            </a:r>
            <a:r>
              <a:rPr lang="en-IN" dirty="0"/>
              <a:t>() + " elements");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nIs</a:t>
            </a:r>
            <a:r>
              <a:rPr lang="en-IN" dirty="0"/>
              <a:t> Dictionary empty?  " + </a:t>
            </a:r>
            <a:r>
              <a:rPr lang="en-IN" dirty="0" err="1"/>
              <a:t>dict.isEmpty</a:t>
            </a:r>
            <a:r>
              <a:rPr lang="en-IN" dirty="0"/>
              <a:t>());			</a:t>
            </a:r>
          </a:p>
          <a:p>
            <a:r>
              <a:rPr lang="en-IN" dirty="0"/>
              <a:t>	</a:t>
            </a:r>
            <a:r>
              <a:rPr lang="en-IN" dirty="0" err="1"/>
              <a:t>System.out.print</a:t>
            </a:r>
            <a:r>
              <a:rPr lang="en-IN" dirty="0"/>
              <a:t>("\</a:t>
            </a:r>
            <a:r>
              <a:rPr lang="en-IN" dirty="0" err="1"/>
              <a:t>nKeys</a:t>
            </a:r>
            <a:r>
              <a:rPr lang="en-IN" dirty="0"/>
              <a:t> in Dictionary\n=&gt; ");</a:t>
            </a:r>
          </a:p>
          <a:p>
            <a:r>
              <a:rPr lang="en-IN" dirty="0"/>
              <a:t>	Enumeration </a:t>
            </a:r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dict.keys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smtClean="0"/>
              <a:t>	while(</a:t>
            </a:r>
            <a:r>
              <a:rPr lang="en-IN" dirty="0" err="1" smtClean="0"/>
              <a:t>i.hasMoreElements</a:t>
            </a:r>
            <a:r>
              <a:rPr lang="en-IN" dirty="0" smtClean="0"/>
              <a:t>()) { </a:t>
            </a:r>
          </a:p>
          <a:p>
            <a:r>
              <a:rPr lang="en-IN" dirty="0" smtClean="0"/>
              <a:t>            	</a:t>
            </a:r>
            <a:r>
              <a:rPr lang="en-IN" dirty="0" err="1" smtClean="0"/>
              <a:t>System.out.print</a:t>
            </a:r>
            <a:r>
              <a:rPr lang="en-IN" dirty="0"/>
              <a:t>(" " + </a:t>
            </a:r>
            <a:r>
              <a:rPr lang="en-IN" dirty="0" err="1"/>
              <a:t>i.nextElement</a:t>
            </a:r>
            <a:r>
              <a:rPr lang="en-IN" dirty="0"/>
              <a:t>()); </a:t>
            </a:r>
          </a:p>
          <a:p>
            <a:r>
              <a:rPr lang="en-IN" dirty="0"/>
              <a:t>        </a:t>
            </a:r>
            <a:r>
              <a:rPr lang="en-IN" dirty="0" smtClean="0"/>
              <a:t>	} </a:t>
            </a:r>
            <a:endParaRPr lang="en-IN" dirty="0"/>
          </a:p>
          <a:p>
            <a:r>
              <a:rPr lang="en-IN" dirty="0" smtClean="0"/>
              <a:t>       	</a:t>
            </a:r>
            <a:r>
              <a:rPr lang="en-IN" dirty="0" err="1" smtClean="0"/>
              <a:t>System.out.print</a:t>
            </a:r>
            <a:r>
              <a:rPr lang="en-IN" dirty="0"/>
              <a:t>("\n\</a:t>
            </a:r>
            <a:r>
              <a:rPr lang="en-IN" dirty="0" err="1"/>
              <a:t>nValues</a:t>
            </a:r>
            <a:r>
              <a:rPr lang="en-IN" dirty="0"/>
              <a:t> in Dictionary\n=&gt; ");</a:t>
            </a:r>
          </a:p>
          <a:p>
            <a:r>
              <a:rPr lang="en-IN" dirty="0"/>
              <a:t>        </a:t>
            </a:r>
            <a:r>
              <a:rPr lang="en-IN" dirty="0" smtClean="0"/>
              <a:t>	Enumeration </a:t>
            </a:r>
            <a:r>
              <a:rPr lang="en-IN" dirty="0"/>
              <a:t>i1 = </a:t>
            </a:r>
            <a:r>
              <a:rPr lang="en-IN" dirty="0" err="1"/>
              <a:t>dict.elements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smtClean="0"/>
              <a:t>	while(i1.hasMoreElements</a:t>
            </a:r>
            <a:r>
              <a:rPr lang="en-IN" dirty="0"/>
              <a:t>()) </a:t>
            </a:r>
            <a:r>
              <a:rPr lang="en-IN" dirty="0" smtClean="0"/>
              <a:t>{ </a:t>
            </a:r>
            <a:endParaRPr lang="en-IN" dirty="0"/>
          </a:p>
          <a:p>
            <a:r>
              <a:rPr lang="en-IN" dirty="0"/>
              <a:t>            </a:t>
            </a:r>
            <a:r>
              <a:rPr lang="en-IN" dirty="0" err="1"/>
              <a:t>System.out.print</a:t>
            </a:r>
            <a:r>
              <a:rPr lang="en-IN" dirty="0"/>
              <a:t>(" " + i1.nextElement()); </a:t>
            </a:r>
          </a:p>
          <a:p>
            <a:r>
              <a:rPr lang="en-IN" dirty="0"/>
              <a:t>        }}}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892" y="3891644"/>
            <a:ext cx="3829050" cy="24193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097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3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4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0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1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7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8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4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5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8971" y="1191624"/>
            <a:ext cx="100496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Hashtable</a:t>
            </a:r>
            <a:r>
              <a:rPr lang="en-US" dirty="0" smtClean="0"/>
              <a:t> which works like a </a:t>
            </a:r>
            <a:r>
              <a:rPr lang="en-US" dirty="0" err="1" smtClean="0"/>
              <a:t>HashMap</a:t>
            </a:r>
            <a:r>
              <a:rPr lang="en-US" dirty="0" smtClean="0"/>
              <a:t> but it is synchronized.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Hashtable</a:t>
            </a:r>
            <a:r>
              <a:rPr lang="en-US" dirty="0" smtClean="0"/>
              <a:t> is a concrete class of Dictionary. </a:t>
            </a:r>
          </a:p>
          <a:p>
            <a:r>
              <a:rPr lang="en-US" dirty="0" smtClean="0"/>
              <a:t>It is used to store and manage elements in the form of a pair of key and value.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61554" y="2731366"/>
            <a:ext cx="1116438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Raleway"/>
              </a:rPr>
              <a:t>Hashtable</a:t>
            </a:r>
            <a:r>
              <a:rPr lang="en-US" b="1" dirty="0" smtClean="0">
                <a:latin typeface="Raleway"/>
              </a:rPr>
              <a:t>( )</a:t>
            </a:r>
            <a:r>
              <a:rPr lang="en-US" dirty="0" smtClean="0">
                <a:latin typeface="Raleway"/>
              </a:rPr>
              <a:t>It creates an empty </a:t>
            </a:r>
            <a:r>
              <a:rPr lang="en-US" dirty="0" err="1" smtClean="0">
                <a:latin typeface="Raleway"/>
              </a:rPr>
              <a:t>hashtable</a:t>
            </a:r>
            <a:r>
              <a:rPr lang="en-US" dirty="0" smtClean="0">
                <a:latin typeface="Raleway"/>
              </a:rPr>
              <a:t> with the default initial capacity 11.</a:t>
            </a:r>
          </a:p>
          <a:p>
            <a:endParaRPr lang="en-US" dirty="0" smtClean="0">
              <a:latin typeface="Raleway"/>
            </a:endParaRPr>
          </a:p>
          <a:p>
            <a:r>
              <a:rPr lang="en-US" b="1" dirty="0" err="1" smtClean="0">
                <a:latin typeface="Raleway"/>
              </a:rPr>
              <a:t>Hashtable</a:t>
            </a:r>
            <a:r>
              <a:rPr lang="en-US" b="1" dirty="0" smtClean="0">
                <a:latin typeface="Raleway"/>
              </a:rPr>
              <a:t>(</a:t>
            </a:r>
            <a:r>
              <a:rPr lang="en-US" b="1" dirty="0" err="1" smtClean="0">
                <a:latin typeface="Raleway"/>
              </a:rPr>
              <a:t>int</a:t>
            </a:r>
            <a:r>
              <a:rPr lang="en-US" b="1" dirty="0" smtClean="0">
                <a:latin typeface="Raleway"/>
              </a:rPr>
              <a:t> capacity)</a:t>
            </a:r>
            <a:r>
              <a:rPr lang="en-US" dirty="0" smtClean="0">
                <a:latin typeface="Raleway"/>
              </a:rPr>
              <a:t>It creates an empty </a:t>
            </a:r>
            <a:r>
              <a:rPr lang="en-US" dirty="0" err="1" smtClean="0">
                <a:latin typeface="Raleway"/>
              </a:rPr>
              <a:t>hashtable</a:t>
            </a:r>
            <a:r>
              <a:rPr lang="en-US" dirty="0" smtClean="0">
                <a:latin typeface="Raleway"/>
              </a:rPr>
              <a:t> with the specified initial capacity.</a:t>
            </a:r>
          </a:p>
          <a:p>
            <a:endParaRPr lang="en-US" dirty="0" smtClean="0">
              <a:latin typeface="Raleway"/>
            </a:endParaRPr>
          </a:p>
          <a:p>
            <a:r>
              <a:rPr lang="en-US" b="1" dirty="0" err="1" smtClean="0">
                <a:latin typeface="Raleway"/>
              </a:rPr>
              <a:t>Hashtable</a:t>
            </a:r>
            <a:r>
              <a:rPr lang="en-US" b="1" dirty="0" smtClean="0">
                <a:latin typeface="Raleway"/>
              </a:rPr>
              <a:t>(</a:t>
            </a:r>
            <a:r>
              <a:rPr lang="en-US" b="1" dirty="0" err="1" smtClean="0">
                <a:latin typeface="Raleway"/>
              </a:rPr>
              <a:t>int</a:t>
            </a:r>
            <a:r>
              <a:rPr lang="en-US" b="1" dirty="0" smtClean="0">
                <a:latin typeface="Raleway"/>
              </a:rPr>
              <a:t> capacity, float </a:t>
            </a:r>
            <a:r>
              <a:rPr lang="en-US" b="1" dirty="0" err="1" smtClean="0">
                <a:latin typeface="Raleway"/>
              </a:rPr>
              <a:t>loadFactor</a:t>
            </a:r>
            <a:r>
              <a:rPr lang="en-US" b="1" dirty="0" smtClean="0">
                <a:latin typeface="Raleway"/>
              </a:rPr>
              <a:t>)</a:t>
            </a:r>
            <a:r>
              <a:rPr lang="en-US" dirty="0" smtClean="0">
                <a:latin typeface="Raleway"/>
              </a:rPr>
              <a:t>It creates an empty </a:t>
            </a:r>
            <a:r>
              <a:rPr lang="en-US" dirty="0" err="1" smtClean="0">
                <a:latin typeface="Raleway"/>
              </a:rPr>
              <a:t>hashtable</a:t>
            </a:r>
            <a:r>
              <a:rPr lang="en-US" dirty="0" smtClean="0">
                <a:latin typeface="Raleway"/>
              </a:rPr>
              <a:t> with the specified initial capacity and loading factor.</a:t>
            </a:r>
          </a:p>
          <a:p>
            <a:endParaRPr lang="en-US" dirty="0" smtClean="0">
              <a:latin typeface="Raleway"/>
            </a:endParaRPr>
          </a:p>
          <a:p>
            <a:r>
              <a:rPr lang="en-US" b="1" dirty="0" err="1" smtClean="0">
                <a:latin typeface="Raleway"/>
              </a:rPr>
              <a:t>Hashtable</a:t>
            </a:r>
            <a:r>
              <a:rPr lang="en-US" b="1" dirty="0" smtClean="0">
                <a:latin typeface="Raleway"/>
              </a:rPr>
              <a:t>(Map m)</a:t>
            </a:r>
            <a:r>
              <a:rPr lang="en-US" dirty="0" smtClean="0">
                <a:latin typeface="Raleway"/>
              </a:rPr>
              <a:t>It creates a </a:t>
            </a:r>
            <a:r>
              <a:rPr lang="en-US" dirty="0" err="1" smtClean="0">
                <a:latin typeface="Raleway"/>
              </a:rPr>
              <a:t>hashtable</a:t>
            </a:r>
            <a:r>
              <a:rPr lang="en-US" dirty="0" smtClean="0">
                <a:latin typeface="Raleway"/>
              </a:rPr>
              <a:t> containing elements of Map m.</a:t>
            </a:r>
          </a:p>
          <a:p>
            <a:endParaRPr lang="en-US" dirty="0" smtClean="0">
              <a:latin typeface="Raleway"/>
            </a:endParaRPr>
          </a:p>
          <a:p>
            <a:endParaRPr lang="en-US" dirty="0" smtClean="0">
              <a:latin typeface="Raleway"/>
            </a:endParaRPr>
          </a:p>
          <a:p>
            <a:endParaRPr lang="en-US" dirty="0" smtClean="0">
              <a:latin typeface="Raleway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6057" y="2203269"/>
            <a:ext cx="1891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Constructors: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015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67" y="950710"/>
            <a:ext cx="4517801" cy="28976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31305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HashtableDemo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</a:t>
            </a:r>
            <a:r>
              <a:rPr lang="en-IN" dirty="0" err="1"/>
              <a:t>args</a:t>
            </a:r>
            <a:r>
              <a:rPr lang="en-IN" dirty="0"/>
              <a:t>[]) {</a:t>
            </a:r>
          </a:p>
          <a:p>
            <a:r>
              <a:rPr lang="en-IN" dirty="0"/>
              <a:t>		</a:t>
            </a:r>
            <a:r>
              <a:rPr lang="en-IN" dirty="0" err="1"/>
              <a:t>Hashtable</a:t>
            </a:r>
            <a:r>
              <a:rPr lang="en-IN" dirty="0"/>
              <a:t> </a:t>
            </a:r>
            <a:r>
              <a:rPr lang="en-IN" dirty="0" err="1"/>
              <a:t>ht</a:t>
            </a:r>
            <a:r>
              <a:rPr lang="en-IN" dirty="0"/>
              <a:t> = new </a:t>
            </a:r>
            <a:r>
              <a:rPr lang="en-IN" dirty="0" err="1"/>
              <a:t>Hashtable</a:t>
            </a:r>
            <a:r>
              <a:rPr lang="en-IN" dirty="0"/>
              <a:t>();</a:t>
            </a:r>
          </a:p>
          <a:p>
            <a:r>
              <a:rPr lang="en-IN" dirty="0"/>
              <a:t>		</a:t>
            </a:r>
            <a:r>
              <a:rPr lang="en-IN" dirty="0" err="1"/>
              <a:t>ht.put</a:t>
            </a:r>
            <a:r>
              <a:rPr lang="en-IN" dirty="0"/>
              <a:t>(501, "</a:t>
            </a:r>
            <a:r>
              <a:rPr lang="en-IN" dirty="0" err="1"/>
              <a:t>Durga</a:t>
            </a:r>
            <a:r>
              <a:rPr lang="en-IN" dirty="0"/>
              <a:t>");</a:t>
            </a:r>
          </a:p>
          <a:p>
            <a:r>
              <a:rPr lang="en-IN" dirty="0"/>
              <a:t>		</a:t>
            </a:r>
            <a:r>
              <a:rPr lang="en-IN" dirty="0" err="1"/>
              <a:t>ht.put</a:t>
            </a:r>
            <a:r>
              <a:rPr lang="en-IN" dirty="0"/>
              <a:t>(510, "</a:t>
            </a:r>
            <a:r>
              <a:rPr lang="en-IN" dirty="0" err="1"/>
              <a:t>Madhu</a:t>
            </a:r>
            <a:r>
              <a:rPr lang="en-IN" dirty="0"/>
              <a:t>");</a:t>
            </a:r>
          </a:p>
          <a:p>
            <a:r>
              <a:rPr lang="en-IN" dirty="0"/>
              <a:t>		</a:t>
            </a:r>
            <a:r>
              <a:rPr lang="en-IN" dirty="0" err="1"/>
              <a:t>ht.put</a:t>
            </a:r>
            <a:r>
              <a:rPr lang="en-IN" dirty="0"/>
              <a:t>(507, "Naveen");</a:t>
            </a:r>
          </a:p>
          <a:p>
            <a:r>
              <a:rPr lang="en-IN" dirty="0"/>
              <a:t>		</a:t>
            </a:r>
            <a:r>
              <a:rPr lang="en-IN" dirty="0" err="1"/>
              <a:t>ht.put</a:t>
            </a:r>
            <a:r>
              <a:rPr lang="en-IN" dirty="0"/>
              <a:t>(512, "Ramesh"); 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HashTable</a:t>
            </a:r>
            <a:r>
              <a:rPr lang="en-IN" dirty="0"/>
              <a:t>\n=&gt; " + </a:t>
            </a:r>
            <a:r>
              <a:rPr lang="en-IN" dirty="0" err="1"/>
              <a:t>ht</a:t>
            </a:r>
            <a:r>
              <a:rPr lang="en-IN" dirty="0"/>
              <a:t>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("\n\</a:t>
            </a:r>
            <a:r>
              <a:rPr lang="en-IN" dirty="0" err="1"/>
              <a:t>nValue</a:t>
            </a:r>
            <a:r>
              <a:rPr lang="en-IN" dirty="0"/>
              <a:t> associated with key 512 =&gt; " + </a:t>
            </a:r>
            <a:r>
              <a:rPr lang="en-IN" dirty="0" err="1"/>
              <a:t>ht.get</a:t>
            </a:r>
            <a:r>
              <a:rPr lang="en-IN" dirty="0"/>
              <a:t>(512));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nHashtable</a:t>
            </a:r>
            <a:r>
              <a:rPr lang="en-IN" dirty="0"/>
              <a:t> has " + </a:t>
            </a:r>
            <a:r>
              <a:rPr lang="en-IN" dirty="0" err="1"/>
              <a:t>ht.size</a:t>
            </a:r>
            <a:r>
              <a:rPr lang="en-IN" dirty="0"/>
              <a:t>() + " elements");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nIs</a:t>
            </a:r>
            <a:r>
              <a:rPr lang="en-IN" dirty="0"/>
              <a:t> </a:t>
            </a:r>
            <a:r>
              <a:rPr lang="en-IN" dirty="0" err="1"/>
              <a:t>hashtable</a:t>
            </a:r>
            <a:r>
              <a:rPr lang="en-IN" dirty="0"/>
              <a:t> empty?  " + </a:t>
            </a:r>
            <a:r>
              <a:rPr lang="en-IN" dirty="0" err="1"/>
              <a:t>ht.isEmpty</a:t>
            </a:r>
            <a:r>
              <a:rPr lang="en-IN" dirty="0"/>
              <a:t>());			</a:t>
            </a:r>
          </a:p>
          <a:p>
            <a:r>
              <a:rPr lang="en-IN" dirty="0"/>
              <a:t>	</a:t>
            </a:r>
            <a:r>
              <a:rPr lang="en-IN" dirty="0" err="1"/>
              <a:t>System.out.print</a:t>
            </a:r>
            <a:r>
              <a:rPr lang="en-IN" dirty="0"/>
              <a:t>("\</a:t>
            </a:r>
            <a:r>
              <a:rPr lang="en-IN" dirty="0" err="1"/>
              <a:t>nKeys</a:t>
            </a:r>
            <a:r>
              <a:rPr lang="en-IN" dirty="0"/>
              <a:t> in </a:t>
            </a:r>
            <a:r>
              <a:rPr lang="en-IN" dirty="0" err="1"/>
              <a:t>hashtable</a:t>
            </a:r>
            <a:r>
              <a:rPr lang="en-IN" dirty="0"/>
              <a:t>\n=&gt; "); </a:t>
            </a:r>
          </a:p>
          <a:p>
            <a:r>
              <a:rPr lang="en-IN" dirty="0"/>
              <a:t>	</a:t>
            </a:r>
            <a:r>
              <a:rPr lang="en-IN" dirty="0" err="1"/>
              <a:t>System.out.print</a:t>
            </a:r>
            <a:r>
              <a:rPr lang="en-IN" dirty="0"/>
              <a:t>("\n\</a:t>
            </a:r>
            <a:r>
              <a:rPr lang="en-IN" dirty="0" err="1"/>
              <a:t>nValues</a:t>
            </a:r>
            <a:r>
              <a:rPr lang="en-IN" dirty="0"/>
              <a:t> in </a:t>
            </a:r>
            <a:r>
              <a:rPr lang="en-IN" dirty="0" err="1"/>
              <a:t>hashtable</a:t>
            </a:r>
            <a:r>
              <a:rPr lang="en-IN" dirty="0"/>
              <a:t>\n=&gt; ");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nKeys</a:t>
            </a:r>
            <a:r>
              <a:rPr lang="en-IN" dirty="0"/>
              <a:t> =&gt; " + </a:t>
            </a:r>
            <a:r>
              <a:rPr lang="en-IN" dirty="0" err="1"/>
              <a:t>ht.keySet</a:t>
            </a:r>
            <a:r>
              <a:rPr lang="en-IN" dirty="0"/>
              <a:t>());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nKeys</a:t>
            </a:r>
            <a:r>
              <a:rPr lang="en-IN" dirty="0"/>
              <a:t> =&gt; " + </a:t>
            </a:r>
            <a:r>
              <a:rPr lang="en-IN" dirty="0" err="1"/>
              <a:t>ht.values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}}</a:t>
            </a:r>
          </a:p>
        </p:txBody>
      </p:sp>
    </p:spTree>
    <p:extLst>
      <p:ext uri="{BB962C8B-B14F-4D97-AF65-F5344CB8AC3E}">
        <p14:creationId xmlns="" xmlns:p14="http://schemas.microsoft.com/office/powerpoint/2010/main" val="418547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0180" y="1035505"/>
            <a:ext cx="1113163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Raleway"/>
              </a:rPr>
              <a:t>Properties</a:t>
            </a:r>
            <a:r>
              <a:rPr lang="en-US" sz="2400" dirty="0">
                <a:solidFill>
                  <a:srgbClr val="333333"/>
                </a:solidFill>
                <a:latin typeface="Raleway"/>
              </a:rPr>
              <a:t> which is a child class of </a:t>
            </a:r>
            <a:r>
              <a:rPr lang="en-US" sz="2400" dirty="0" err="1">
                <a:solidFill>
                  <a:srgbClr val="333333"/>
                </a:solidFill>
                <a:latin typeface="Raleway"/>
              </a:rPr>
              <a:t>Hashtable</a:t>
            </a:r>
            <a:r>
              <a:rPr lang="en-US" sz="2400" dirty="0">
                <a:solidFill>
                  <a:srgbClr val="333333"/>
                </a:solidFill>
                <a:latin typeface="Raleway"/>
              </a:rPr>
              <a:t> class. </a:t>
            </a:r>
            <a:endParaRPr lang="en-US" sz="2400" dirty="0" smtClean="0">
              <a:solidFill>
                <a:srgbClr val="333333"/>
              </a:solidFill>
              <a:latin typeface="Raleway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333333"/>
                </a:solidFill>
                <a:latin typeface="Raleway"/>
              </a:rPr>
              <a:t>It </a:t>
            </a:r>
            <a:r>
              <a:rPr lang="en-US" sz="2400" dirty="0">
                <a:solidFill>
                  <a:srgbClr val="333333"/>
                </a:solidFill>
                <a:latin typeface="Raleway"/>
              </a:rPr>
              <a:t>implements interfaces like Map, </a:t>
            </a:r>
            <a:endParaRPr lang="en-US" sz="2400" dirty="0" smtClean="0">
              <a:solidFill>
                <a:srgbClr val="333333"/>
              </a:solidFill>
              <a:latin typeface="Raleway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333333"/>
                </a:solidFill>
                <a:latin typeface="Raleway"/>
              </a:rPr>
              <a:t>Implements </a:t>
            </a:r>
            <a:r>
              <a:rPr lang="en-US" sz="2400" dirty="0" err="1" smtClean="0">
                <a:solidFill>
                  <a:srgbClr val="333333"/>
                </a:solidFill>
                <a:latin typeface="Raleway"/>
              </a:rPr>
              <a:t>Cloneable</a:t>
            </a:r>
            <a:r>
              <a:rPr lang="en-US" sz="2400" dirty="0">
                <a:solidFill>
                  <a:srgbClr val="333333"/>
                </a:solidFill>
                <a:latin typeface="Raleway"/>
              </a:rPr>
              <a:t>, and </a:t>
            </a:r>
            <a:r>
              <a:rPr lang="en-US" sz="2400" dirty="0" err="1">
                <a:solidFill>
                  <a:srgbClr val="333333"/>
                </a:solidFill>
                <a:latin typeface="Raleway"/>
              </a:rPr>
              <a:t>Serializable</a:t>
            </a:r>
            <a:r>
              <a:rPr lang="en-US" sz="2400" dirty="0" smtClean="0">
                <a:solidFill>
                  <a:srgbClr val="333333"/>
                </a:solidFill>
                <a:latin typeface="Raleway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Properties class, we can load key, value pairs into a Properties object from a stream</a:t>
            </a:r>
            <a:r>
              <a:rPr lang="en-US" sz="2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Properties class, we can save the Properties object to a stream.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755561" y="3615760"/>
            <a:ext cx="89937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Properties( 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creates an empty property list with no default values.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5561" y="4071898"/>
            <a:ext cx="10384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Properties(Properties defaults)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creates an empty property list with the specified defaults.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180" y="3104628"/>
            <a:ext cx="1891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Constructors: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5560" y="4759327"/>
            <a:ext cx="10152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getProperty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(String key)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returns value associated with the specified key.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5559" y="5311098"/>
            <a:ext cx="10152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void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setProperty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(String key, String value)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calls the put method of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Hashtable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5559" y="5902894"/>
            <a:ext cx="1068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void store(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OutputStream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os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, String comment)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writes the properties in the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OutputStream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object.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179" y="4366682"/>
            <a:ext cx="13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Methods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4718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9346" y="905374"/>
            <a:ext cx="9753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java.io.*;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public class </a:t>
            </a:r>
            <a:r>
              <a:rPr lang="en-IN" dirty="0" err="1" smtClean="0"/>
              <a:t>PropertiesDemo</a:t>
            </a:r>
            <a:r>
              <a:rPr lang="en-IN" dirty="0" smtClean="0"/>
              <a:t> </a:t>
            </a:r>
            <a:r>
              <a:rPr lang="en-IN" dirty="0"/>
              <a:t>{</a:t>
            </a:r>
          </a:p>
          <a:p>
            <a:r>
              <a:rPr lang="en-IN" dirty="0"/>
              <a:t>	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		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fos</a:t>
            </a:r>
            <a:r>
              <a:rPr lang="en-IN" dirty="0"/>
              <a:t> = null;</a:t>
            </a:r>
          </a:p>
          <a:p>
            <a:r>
              <a:rPr lang="en-IN" dirty="0"/>
              <a:t>		File </a:t>
            </a:r>
            <a:r>
              <a:rPr lang="en-IN" dirty="0" err="1"/>
              <a:t>confFile</a:t>
            </a:r>
            <a:r>
              <a:rPr lang="en-IN" dirty="0"/>
              <a:t> = null;</a:t>
            </a:r>
          </a:p>
          <a:p>
            <a:r>
              <a:rPr lang="en-IN" dirty="0"/>
              <a:t>		try {</a:t>
            </a:r>
          </a:p>
          <a:p>
            <a:r>
              <a:rPr lang="en-IN" dirty="0"/>
              <a:t>			</a:t>
            </a:r>
            <a:r>
              <a:rPr lang="en-IN" dirty="0" err="1"/>
              <a:t>confFile</a:t>
            </a:r>
            <a:r>
              <a:rPr lang="en-IN" dirty="0"/>
              <a:t> = new File("</a:t>
            </a:r>
            <a:r>
              <a:rPr lang="en-IN" dirty="0" err="1"/>
              <a:t>studentfile.properties</a:t>
            </a:r>
            <a:r>
              <a:rPr lang="en-IN" dirty="0"/>
              <a:t>");</a:t>
            </a:r>
          </a:p>
          <a:p>
            <a:r>
              <a:rPr lang="en-IN" dirty="0"/>
              <a:t>			</a:t>
            </a:r>
            <a:r>
              <a:rPr lang="en-IN" dirty="0" err="1"/>
              <a:t>fos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</a:t>
            </a:r>
            <a:r>
              <a:rPr lang="en-IN" dirty="0" err="1"/>
              <a:t>confFile</a:t>
            </a:r>
            <a:r>
              <a:rPr lang="en-IN" dirty="0"/>
              <a:t>);</a:t>
            </a:r>
          </a:p>
          <a:p>
            <a:r>
              <a:rPr lang="en-IN" dirty="0"/>
              <a:t>			Properties </a:t>
            </a:r>
            <a:r>
              <a:rPr lang="en-IN" dirty="0" err="1"/>
              <a:t>cp</a:t>
            </a:r>
            <a:r>
              <a:rPr lang="en-IN" dirty="0"/>
              <a:t> = new Properties();</a:t>
            </a:r>
          </a:p>
          <a:p>
            <a:r>
              <a:rPr lang="en-IN" dirty="0"/>
              <a:t>			</a:t>
            </a:r>
            <a:r>
              <a:rPr lang="en-IN" dirty="0" err="1"/>
              <a:t>cp.setProperty</a:t>
            </a:r>
            <a:r>
              <a:rPr lang="en-IN" dirty="0"/>
              <a:t>("Name1", "</a:t>
            </a:r>
            <a:r>
              <a:rPr lang="en-IN" dirty="0" err="1"/>
              <a:t>Durga</a:t>
            </a:r>
            <a:r>
              <a:rPr lang="en-IN" dirty="0"/>
              <a:t>");</a:t>
            </a:r>
          </a:p>
          <a:p>
            <a:r>
              <a:rPr lang="en-IN" dirty="0"/>
              <a:t>			</a:t>
            </a:r>
            <a:r>
              <a:rPr lang="en-IN" dirty="0" err="1"/>
              <a:t>cp.setProperty</a:t>
            </a:r>
            <a:r>
              <a:rPr lang="en-IN" dirty="0"/>
              <a:t>("Name2", "</a:t>
            </a:r>
            <a:r>
              <a:rPr lang="en-IN" dirty="0" err="1"/>
              <a:t>Madhu</a:t>
            </a:r>
            <a:r>
              <a:rPr lang="en-IN" dirty="0"/>
              <a:t>");</a:t>
            </a:r>
          </a:p>
          <a:p>
            <a:r>
              <a:rPr lang="en-IN" dirty="0"/>
              <a:t>			</a:t>
            </a:r>
            <a:r>
              <a:rPr lang="en-IN" dirty="0" err="1"/>
              <a:t>cp.store</a:t>
            </a:r>
            <a:r>
              <a:rPr lang="en-IN" dirty="0"/>
              <a:t>(</a:t>
            </a:r>
            <a:r>
              <a:rPr lang="en-IN" dirty="0" err="1"/>
              <a:t>fos</a:t>
            </a:r>
            <a:r>
              <a:rPr lang="en-IN" dirty="0"/>
              <a:t>, "Student Names");</a:t>
            </a:r>
          </a:p>
          <a:p>
            <a:r>
              <a:rPr lang="en-IN" dirty="0"/>
              <a:t>			</a:t>
            </a:r>
            <a:r>
              <a:rPr lang="en-IN" dirty="0" err="1"/>
              <a:t>fos.close</a:t>
            </a:r>
            <a:r>
              <a:rPr lang="en-IN" dirty="0"/>
              <a:t>();			</a:t>
            </a:r>
          </a:p>
          <a:p>
            <a:r>
              <a:rPr lang="en-IN" dirty="0"/>
              <a:t>			</a:t>
            </a:r>
            <a:r>
              <a:rPr lang="en-IN" dirty="0" err="1"/>
              <a:t>System.out.println</a:t>
            </a:r>
            <a:r>
              <a:rPr lang="en-IN" dirty="0"/>
              <a:t>("Student data saved!!!");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		catch(Exception e) {</a:t>
            </a:r>
          </a:p>
          <a:p>
            <a:r>
              <a:rPr lang="en-IN" dirty="0"/>
              <a:t>			</a:t>
            </a:r>
            <a:r>
              <a:rPr lang="en-IN" dirty="0" err="1"/>
              <a:t>System.out.println</a:t>
            </a:r>
            <a:r>
              <a:rPr lang="en-IN" dirty="0"/>
              <a:t>("Something went wrong while opening file");</a:t>
            </a:r>
          </a:p>
          <a:p>
            <a:r>
              <a:rPr lang="en-IN" dirty="0"/>
              <a:t>		}	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368" y="1640950"/>
            <a:ext cx="6808631" cy="92303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212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3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4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0" dur="8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1" dur="8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8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7" dur="8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8" dur="8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8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5103" y="1102308"/>
            <a:ext cx="10771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Raleway"/>
              </a:rPr>
              <a:t>The </a:t>
            </a:r>
            <a:r>
              <a:rPr lang="en-US" b="1" dirty="0" err="1" smtClean="0">
                <a:solidFill>
                  <a:srgbClr val="00B050"/>
                </a:solidFill>
                <a:latin typeface="Raleway"/>
              </a:rPr>
              <a:t>StringTokenizer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 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class in java used to break a string into tokens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76008" y="1959017"/>
            <a:ext cx="112604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str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creates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object for the specified string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with default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6007" y="2418649"/>
            <a:ext cx="11080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str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, 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creates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object for the specified string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with specified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6006" y="3155280"/>
            <a:ext cx="11080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str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, 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,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boolean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returnValue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creates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object with specified string,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and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returnValue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59" y="4613894"/>
            <a:ext cx="10680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nextToken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returns the next token from the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object.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560" y="5076113"/>
            <a:ext cx="109899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nextToken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(String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returns the next token 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based 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on the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delimeter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5560" y="4152783"/>
            <a:ext cx="109899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rgbClr val="333333"/>
                </a:solidFill>
                <a:latin typeface="Raleway"/>
              </a:rPr>
              <a:t>boolean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hasMoreTokens</a:t>
            </a:r>
            <a:r>
              <a:rPr lang="en-US" b="1" dirty="0" smtClean="0">
                <a:solidFill>
                  <a:srgbClr val="333333"/>
                </a:solidFill>
                <a:latin typeface="Raleway"/>
              </a:rPr>
              <a:t>():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checks if there is more tokens available.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5559" y="5813224"/>
            <a:ext cx="106808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Object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nextElement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returns the next token from the </a:t>
            </a:r>
            <a:r>
              <a:rPr lang="en-US" dirty="0" err="1">
                <a:solidFill>
                  <a:srgbClr val="333333"/>
                </a:solidFill>
                <a:latin typeface="Raleway"/>
              </a:rPr>
              <a:t>StringTokenizer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 object.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5559" y="5445445"/>
            <a:ext cx="111702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rgbClr val="333333"/>
                </a:solidFill>
                <a:latin typeface="Raleway"/>
              </a:rPr>
              <a:t>boolean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hasMoreElements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returns true if there are more tokens 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object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. otherwise returns false.</a:t>
            </a:r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5103" y="1542047"/>
            <a:ext cx="1891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Constructors: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8866" y="3751552"/>
            <a:ext cx="13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Methods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5559" y="6276996"/>
            <a:ext cx="5758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>
                <a:solidFill>
                  <a:srgbClr val="333333"/>
                </a:solidFill>
                <a:latin typeface="inter-regular"/>
              </a:rPr>
              <a:t>int</a:t>
            </a:r>
            <a:r>
              <a:rPr lang="en-IN" b="1" dirty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IN" b="1" dirty="0" err="1">
                <a:solidFill>
                  <a:srgbClr val="333333"/>
                </a:solidFill>
                <a:latin typeface="inter-regular"/>
              </a:rPr>
              <a:t>countTokens</a:t>
            </a:r>
            <a:r>
              <a:rPr lang="en-IN" b="1" dirty="0" smtClean="0">
                <a:solidFill>
                  <a:srgbClr val="333333"/>
                </a:solidFill>
                <a:latin typeface="inter-regular"/>
              </a:rPr>
              <a:t>(): 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returns the total number of tokens.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274138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5910" y="1572425"/>
            <a:ext cx="882202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java.util.StringTokenizer</a:t>
            </a:r>
            <a:r>
              <a:rPr lang="en-IN" dirty="0"/>
              <a:t>;  </a:t>
            </a:r>
          </a:p>
          <a:p>
            <a:r>
              <a:rPr lang="en-IN" dirty="0"/>
              <a:t>public class </a:t>
            </a:r>
            <a:r>
              <a:rPr lang="en-IN" dirty="0" err="1"/>
              <a:t>StringTokenizerDemo</a:t>
            </a:r>
            <a:r>
              <a:rPr lang="en-IN" dirty="0"/>
              <a:t>{  </a:t>
            </a:r>
          </a:p>
          <a:p>
            <a:r>
              <a:rPr lang="en-IN" dirty="0"/>
              <a:t> public static void main(String </a:t>
            </a:r>
            <a:r>
              <a:rPr lang="en-IN" dirty="0" err="1"/>
              <a:t>args</a:t>
            </a:r>
            <a:r>
              <a:rPr lang="en-IN" dirty="0"/>
              <a:t>[]){  </a:t>
            </a:r>
          </a:p>
          <a:p>
            <a:r>
              <a:rPr lang="en-IN" dirty="0"/>
              <a:t>   </a:t>
            </a:r>
            <a:r>
              <a:rPr lang="en-IN" dirty="0" err="1"/>
              <a:t>StringTokenizer</a:t>
            </a:r>
            <a:r>
              <a:rPr lang="en-IN" dirty="0"/>
              <a:t> </a:t>
            </a:r>
            <a:r>
              <a:rPr lang="en-IN" dirty="0" err="1"/>
              <a:t>st</a:t>
            </a:r>
            <a:r>
              <a:rPr lang="en-IN" dirty="0"/>
              <a:t> = new </a:t>
            </a:r>
            <a:r>
              <a:rPr lang="en-IN" dirty="0" err="1"/>
              <a:t>StringTokenizer</a:t>
            </a:r>
            <a:r>
              <a:rPr lang="en-IN" dirty="0"/>
              <a:t>("The </a:t>
            </a:r>
            <a:r>
              <a:rPr lang="en-IN" dirty="0" err="1"/>
              <a:t>StringTokenizer</a:t>
            </a:r>
            <a:r>
              <a:rPr lang="en-IN" dirty="0"/>
              <a:t> used to break a string into tokens");  </a:t>
            </a:r>
          </a:p>
          <a:p>
            <a:r>
              <a:rPr lang="en-IN" dirty="0"/>
              <a:t>  </a:t>
            </a:r>
            <a:r>
              <a:rPr lang="en-IN" dirty="0" err="1"/>
              <a:t>StringTokenizer</a:t>
            </a:r>
            <a:r>
              <a:rPr lang="en-IN" dirty="0"/>
              <a:t> st2 = new </a:t>
            </a:r>
            <a:r>
              <a:rPr lang="en-IN" dirty="0" err="1"/>
              <a:t>StringTokenizer</a:t>
            </a:r>
            <a:r>
              <a:rPr lang="en-IN" dirty="0"/>
              <a:t>("The </a:t>
            </a:r>
            <a:r>
              <a:rPr lang="en-IN" dirty="0" err="1"/>
              <a:t>StringTokenizer,used</a:t>
            </a:r>
            <a:r>
              <a:rPr lang="en-IN" dirty="0"/>
              <a:t> </a:t>
            </a:r>
            <a:r>
              <a:rPr lang="en-IN" dirty="0" err="1"/>
              <a:t>to,break</a:t>
            </a:r>
            <a:r>
              <a:rPr lang="en-IN" dirty="0"/>
              <a:t> a, string, into tokens",",");  </a:t>
            </a:r>
          </a:p>
          <a:p>
            <a:r>
              <a:rPr lang="en-IN" dirty="0"/>
              <a:t>  </a:t>
            </a:r>
            <a:r>
              <a:rPr lang="en-IN" dirty="0" err="1"/>
              <a:t>System.out.println</a:t>
            </a:r>
            <a:r>
              <a:rPr lang="en-IN" dirty="0"/>
              <a:t>("default Splitting of String1");</a:t>
            </a:r>
          </a:p>
          <a:p>
            <a:r>
              <a:rPr lang="en-IN" dirty="0"/>
              <a:t>while (</a:t>
            </a:r>
            <a:r>
              <a:rPr lang="en-IN" dirty="0" err="1"/>
              <a:t>st.hasMoreTokens</a:t>
            </a:r>
            <a:r>
              <a:rPr lang="en-IN" dirty="0"/>
              <a:t>()) {  </a:t>
            </a:r>
          </a:p>
          <a:p>
            <a:r>
              <a:rPr lang="en-IN" dirty="0"/>
              <a:t> 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st.nextToken</a:t>
            </a:r>
            <a:r>
              <a:rPr lang="en-IN" dirty="0"/>
              <a:t>());  </a:t>
            </a:r>
          </a:p>
          <a:p>
            <a:r>
              <a:rPr lang="en-IN" dirty="0"/>
              <a:t>     }</a:t>
            </a:r>
          </a:p>
          <a:p>
            <a:r>
              <a:rPr lang="en-IN" dirty="0" err="1"/>
              <a:t>System.out.println</a:t>
            </a:r>
            <a:r>
              <a:rPr lang="en-IN" dirty="0"/>
              <a:t>("Comma Splitting of String2");</a:t>
            </a:r>
          </a:p>
          <a:p>
            <a:r>
              <a:rPr lang="en-IN" dirty="0"/>
              <a:t>  while (st2.hasMoreElements()) {  </a:t>
            </a:r>
          </a:p>
          <a:p>
            <a:r>
              <a:rPr lang="en-IN" dirty="0"/>
              <a:t>         </a:t>
            </a:r>
            <a:r>
              <a:rPr lang="en-IN" dirty="0" err="1"/>
              <a:t>System.out.println</a:t>
            </a:r>
            <a:r>
              <a:rPr lang="en-IN" dirty="0"/>
              <a:t>(st2.nextElement());  </a:t>
            </a:r>
          </a:p>
          <a:p>
            <a:r>
              <a:rPr lang="en-IN" dirty="0"/>
              <a:t>     }  </a:t>
            </a:r>
          </a:p>
          <a:p>
            <a:r>
              <a:rPr lang="en-IN" dirty="0"/>
              <a:t>   </a:t>
            </a:r>
            <a:r>
              <a:rPr lang="en-IN" dirty="0" err="1"/>
              <a:t>System.out.println</a:t>
            </a:r>
            <a:r>
              <a:rPr lang="en-IN" dirty="0"/>
              <a:t>(st2.nextElement());  </a:t>
            </a:r>
          </a:p>
          <a:p>
            <a:r>
              <a:rPr lang="en-IN" dirty="0"/>
              <a:t>   }  </a:t>
            </a:r>
          </a:p>
          <a:p>
            <a:r>
              <a:rPr lang="en-IN" dirty="0"/>
              <a:t>}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91717"/>
            <a:ext cx="4709375" cy="335382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175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6720" y="1246743"/>
            <a:ext cx="108611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333333"/>
                </a:solidFill>
                <a:latin typeface="Raleway"/>
              </a:rPr>
              <a:t>The </a:t>
            </a:r>
            <a:r>
              <a:rPr lang="en-US" b="1" dirty="0" smtClean="0">
                <a:solidFill>
                  <a:srgbClr val="00B050"/>
                </a:solidFill>
                <a:latin typeface="Raleway"/>
              </a:rPr>
              <a:t>Date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 is a built-in class in java used to work with date and time in java.</a:t>
            </a:r>
          </a:p>
          <a:p>
            <a:r>
              <a:rPr lang="en-US" dirty="0" smtClean="0">
                <a:solidFill>
                  <a:srgbClr val="333333"/>
                </a:solidFill>
                <a:latin typeface="Raleway"/>
              </a:rPr>
              <a:t>The Date class is available inside the </a:t>
            </a:r>
            <a:r>
              <a:rPr lang="en-US" b="1" dirty="0" err="1" smtClean="0">
                <a:solidFill>
                  <a:srgbClr val="E6005C"/>
                </a:solidFill>
                <a:latin typeface="Raleway"/>
              </a:rPr>
              <a:t>java.util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 package. </a:t>
            </a:r>
          </a:p>
          <a:p>
            <a:r>
              <a:rPr lang="en-US" dirty="0" smtClean="0">
                <a:solidFill>
                  <a:srgbClr val="333333"/>
                </a:solidFill>
                <a:latin typeface="Raleway"/>
              </a:rPr>
              <a:t>The Date class represents the date and time with millisecond precision.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84726" y="2493727"/>
            <a:ext cx="106277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Date( 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creates a Date object that represents current date and time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.</a:t>
            </a:r>
          </a:p>
          <a:p>
            <a:pPr algn="just"/>
            <a:r>
              <a:rPr lang="en-US" b="1" dirty="0"/>
              <a:t>Date(long milliseconds)</a:t>
            </a:r>
            <a:r>
              <a:rPr lang="en-US" dirty="0"/>
              <a:t>It creates a date object for the given milliseconds since January 1, 1970, 00:00:00 GMT.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0106" y="3754037"/>
            <a:ext cx="106164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long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getTime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returns the time represented by this date object</a:t>
            </a:r>
            <a:r>
              <a:rPr lang="en-US" dirty="0" smtClean="0">
                <a:solidFill>
                  <a:srgbClr val="333333"/>
                </a:solidFill>
                <a:latin typeface="Raleway"/>
              </a:rPr>
              <a:t>.</a:t>
            </a:r>
          </a:p>
          <a:p>
            <a:pPr algn="just"/>
            <a:r>
              <a:rPr lang="en-US" b="1" dirty="0">
                <a:solidFill>
                  <a:srgbClr val="333333"/>
                </a:solidFill>
                <a:latin typeface="Raleway"/>
              </a:rPr>
              <a:t>void </a:t>
            </a:r>
            <a:r>
              <a:rPr lang="en-US" b="1" dirty="0" err="1">
                <a:solidFill>
                  <a:srgbClr val="333333"/>
                </a:solidFill>
                <a:latin typeface="Raleway"/>
              </a:rPr>
              <a:t>setTime</a:t>
            </a:r>
            <a:r>
              <a:rPr lang="en-US" b="1" dirty="0">
                <a:solidFill>
                  <a:srgbClr val="333333"/>
                </a:solidFill>
                <a:latin typeface="Raleway"/>
              </a:rPr>
              <a:t>(long time)</a:t>
            </a:r>
            <a:r>
              <a:rPr lang="en-US" dirty="0">
                <a:solidFill>
                  <a:srgbClr val="333333"/>
                </a:solidFill>
                <a:latin typeface="Raleway"/>
              </a:rPr>
              <a:t>It changes the current date and time to given time.</a:t>
            </a:r>
          </a:p>
          <a:p>
            <a:pPr algn="just"/>
            <a:r>
              <a:rPr lang="en-US" b="1" dirty="0" err="1"/>
              <a:t>boolean</a:t>
            </a:r>
            <a:r>
              <a:rPr lang="en-US" b="1" dirty="0"/>
              <a:t> after(Date date)</a:t>
            </a:r>
            <a:r>
              <a:rPr lang="en-US" dirty="0"/>
              <a:t>It returns true, if the invoking date is after the </a:t>
            </a:r>
            <a:r>
              <a:rPr lang="en-US" dirty="0" err="1"/>
              <a:t>argumented</a:t>
            </a:r>
            <a:r>
              <a:rPr lang="en-US" dirty="0"/>
              <a:t> date.</a:t>
            </a:r>
          </a:p>
          <a:p>
            <a:pPr algn="just"/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hashCode</a:t>
            </a:r>
            <a:r>
              <a:rPr lang="en-US" b="1" dirty="0"/>
              <a:t>()</a:t>
            </a:r>
            <a:r>
              <a:rPr lang="en-US" dirty="0"/>
              <a:t>It returns the hash code value of the invoking date object.</a:t>
            </a:r>
          </a:p>
          <a:p>
            <a:pPr algn="just"/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compareTo</a:t>
            </a:r>
            <a:r>
              <a:rPr lang="en-US" b="1" dirty="0"/>
              <a:t>(Date date)</a:t>
            </a:r>
            <a:r>
              <a:rPr lang="en-US" dirty="0"/>
              <a:t>It compares current date with given date.</a:t>
            </a:r>
          </a:p>
          <a:p>
            <a:pPr algn="just"/>
            <a:r>
              <a:rPr lang="en-US" b="1" dirty="0"/>
              <a:t>String </a:t>
            </a:r>
            <a:r>
              <a:rPr lang="en-US" b="1" dirty="0" err="1"/>
              <a:t>toString</a:t>
            </a:r>
            <a:r>
              <a:rPr lang="en-US" b="1" dirty="0"/>
              <a:t>()</a:t>
            </a:r>
            <a:r>
              <a:rPr lang="en-US" dirty="0"/>
              <a:t>It converts this date into Instant object.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Ralew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6720" y="2098873"/>
            <a:ext cx="1891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Constructors: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4727" y="3292372"/>
            <a:ext cx="1333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B0F0"/>
                </a:solidFill>
              </a:rPr>
              <a:t>Methods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094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76" y="1646147"/>
            <a:ext cx="3600450" cy="8096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6062" y="1646147"/>
            <a:ext cx="88220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java.util.Date</a:t>
            </a:r>
            <a:r>
              <a:rPr lang="en-IN" dirty="0"/>
              <a:t>;</a:t>
            </a:r>
          </a:p>
          <a:p>
            <a:r>
              <a:rPr lang="en-IN" dirty="0"/>
              <a:t>public class </a:t>
            </a:r>
            <a:r>
              <a:rPr lang="en-IN" dirty="0" err="1"/>
              <a:t>DateDemo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		Date time = new Date();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("Current date : " + time);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("Date : " + </a:t>
            </a:r>
            <a:r>
              <a:rPr lang="en-IN" dirty="0" err="1"/>
              <a:t>time.getTime</a:t>
            </a:r>
            <a:r>
              <a:rPr lang="en-IN" dirty="0"/>
              <a:t>() + " milliseconds");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hashCode</a:t>
            </a:r>
            <a:r>
              <a:rPr lang="en-IN" dirty="0"/>
              <a:t> : " + </a:t>
            </a:r>
            <a:r>
              <a:rPr lang="en-IN" dirty="0" err="1"/>
              <a:t>time.hashCode</a:t>
            </a:r>
            <a:r>
              <a:rPr lang="en-IN" dirty="0"/>
              <a:t>());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("Date to String : " + </a:t>
            </a:r>
            <a:r>
              <a:rPr lang="en-IN" dirty="0" err="1"/>
              <a:t>time.toString</a:t>
            </a:r>
            <a:r>
              <a:rPr lang="en-IN" dirty="0"/>
              <a:t>());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15097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3177" y="1229809"/>
            <a:ext cx="111208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Comparator is an interface available in the </a:t>
            </a:r>
            <a:r>
              <a:rPr lang="en-US" b="1" dirty="0" err="1" smtClean="0"/>
              <a:t>java.util</a:t>
            </a:r>
            <a:r>
              <a:rPr lang="en-US" dirty="0" smtClean="0"/>
              <a:t> package. </a:t>
            </a:r>
          </a:p>
          <a:p>
            <a:r>
              <a:rPr lang="en-US" dirty="0" smtClean="0"/>
              <a:t>The java </a:t>
            </a:r>
            <a:r>
              <a:rPr lang="en-US" b="1" dirty="0" smtClean="0"/>
              <a:t>Comparator</a:t>
            </a:r>
            <a:r>
              <a:rPr lang="en-US" dirty="0" smtClean="0"/>
              <a:t> is used to order the objects of user-defined classes. </a:t>
            </a:r>
          </a:p>
          <a:p>
            <a:r>
              <a:rPr lang="en-US" dirty="0" smtClean="0"/>
              <a:t>The java Comparator can compare two objects from two different classes.</a:t>
            </a:r>
          </a:p>
          <a:p>
            <a:r>
              <a:rPr lang="en-US" dirty="0" smtClean="0"/>
              <a:t>Using the java Comparator, we can sort the elements based on data members of a class.</a:t>
            </a:r>
          </a:p>
          <a:p>
            <a:r>
              <a:rPr lang="en-US" dirty="0" smtClean="0"/>
              <a:t> For example, we can sort based on </a:t>
            </a:r>
            <a:r>
              <a:rPr lang="en-US" dirty="0" err="1" smtClean="0"/>
              <a:t>roolNo</a:t>
            </a:r>
            <a:r>
              <a:rPr lang="en-US" dirty="0" smtClean="0"/>
              <a:t>, age, salary, marks,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200" y="3470757"/>
            <a:ext cx="7842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B0F0"/>
                </a:solidFill>
              </a:rPr>
              <a:t>compare(Object obj1, Object obj2): </a:t>
            </a:r>
            <a:r>
              <a:rPr lang="en-US" dirty="0" smtClean="0"/>
              <a:t>It is used to compares the obj1 with o bj2 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30747" y="3914894"/>
            <a:ext cx="10100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boolean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F0"/>
                </a:solidFill>
              </a:rPr>
              <a:t>equals(Object </a:t>
            </a:r>
            <a:r>
              <a:rPr lang="en-US" dirty="0" err="1" smtClean="0">
                <a:solidFill>
                  <a:srgbClr val="00B0F0"/>
                </a:solidFill>
              </a:rPr>
              <a:t>obj</a:t>
            </a:r>
            <a:r>
              <a:rPr lang="en-US" dirty="0" smtClean="0">
                <a:solidFill>
                  <a:srgbClr val="00B0F0"/>
                </a:solidFill>
              </a:rPr>
              <a:t>):</a:t>
            </a:r>
            <a:r>
              <a:rPr lang="en-US" dirty="0" smtClean="0"/>
              <a:t> It is used to check the equity between current object and </a:t>
            </a:r>
            <a:r>
              <a:rPr lang="en-US" dirty="0" err="1" smtClean="0"/>
              <a:t>argumented</a:t>
            </a:r>
            <a:r>
              <a:rPr lang="en-US" dirty="0" smtClean="0"/>
              <a:t> object.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47808" y="2991785"/>
            <a:ext cx="1333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Methods</a:t>
            </a:r>
            <a:endParaRPr lang="en-US" sz="2400" b="1" dirty="0"/>
          </a:p>
        </p:txBody>
      </p:sp>
    </p:spTree>
    <p:extLst>
      <p:ext uri="{BB962C8B-B14F-4D97-AF65-F5344CB8AC3E}">
        <p14:creationId xmlns="" xmlns:p14="http://schemas.microsoft.com/office/powerpoint/2010/main" val="269907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2297" y="925364"/>
            <a:ext cx="1205033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class Student{</a:t>
            </a:r>
          </a:p>
          <a:p>
            <a:endParaRPr lang="en-IN" dirty="0"/>
          </a:p>
          <a:p>
            <a:r>
              <a:rPr lang="en-IN" dirty="0"/>
              <a:t>	String name;</a:t>
            </a:r>
          </a:p>
          <a:p>
            <a:r>
              <a:rPr lang="en-IN" dirty="0"/>
              <a:t>	double percentage;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Student(String name, double percentage){</a:t>
            </a:r>
          </a:p>
          <a:p>
            <a:r>
              <a:rPr lang="en-IN" dirty="0"/>
              <a:t>		this.name = name;</a:t>
            </a:r>
          </a:p>
          <a:p>
            <a:r>
              <a:rPr lang="en-IN" dirty="0"/>
              <a:t>		</a:t>
            </a:r>
            <a:r>
              <a:rPr lang="en-IN" dirty="0" err="1"/>
              <a:t>this.percentage</a:t>
            </a:r>
            <a:r>
              <a:rPr lang="en-IN" dirty="0"/>
              <a:t> = percentage;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PercentageComparator</a:t>
            </a:r>
            <a:r>
              <a:rPr lang="en-IN" dirty="0"/>
              <a:t> implements Comparator&lt;Student&gt;{</a:t>
            </a:r>
          </a:p>
          <a:p>
            <a:r>
              <a:rPr lang="en-IN" dirty="0"/>
              <a:t>	public </a:t>
            </a:r>
            <a:r>
              <a:rPr lang="en-IN" dirty="0" err="1"/>
              <a:t>int</a:t>
            </a:r>
            <a:r>
              <a:rPr lang="en-IN" dirty="0"/>
              <a:t> compare(Student stud1, Student stud2) {</a:t>
            </a:r>
          </a:p>
          <a:p>
            <a:r>
              <a:rPr lang="en-IN" dirty="0"/>
              <a:t>		if(stud1.percentage &lt; stud2.percentage)</a:t>
            </a:r>
          </a:p>
          <a:p>
            <a:r>
              <a:rPr lang="en-IN" dirty="0"/>
              <a:t>			return 1;</a:t>
            </a:r>
          </a:p>
          <a:p>
            <a:r>
              <a:rPr lang="en-IN" dirty="0"/>
              <a:t>		return -1;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4919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840" y="810296"/>
            <a:ext cx="903949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public class </a:t>
            </a:r>
            <a:r>
              <a:rPr lang="en-IN" dirty="0" err="1" smtClean="0"/>
              <a:t>ComparatorStudent</a:t>
            </a:r>
            <a:r>
              <a:rPr lang="en-IN" dirty="0" smtClean="0"/>
              <a:t>{</a:t>
            </a:r>
          </a:p>
          <a:p>
            <a:r>
              <a:rPr lang="en-IN" dirty="0" smtClean="0"/>
              <a:t>	</a:t>
            </a:r>
          </a:p>
          <a:p>
            <a:r>
              <a:rPr lang="en-IN" dirty="0" smtClean="0"/>
              <a:t>	public static void main(String </a:t>
            </a:r>
            <a:r>
              <a:rPr lang="en-IN" dirty="0" err="1" smtClean="0"/>
              <a:t>args</a:t>
            </a:r>
            <a:r>
              <a:rPr lang="en-IN" dirty="0" smtClean="0"/>
              <a:t>[]) {</a:t>
            </a:r>
          </a:p>
          <a:p>
            <a:r>
              <a:rPr lang="en-IN" dirty="0" smtClean="0"/>
              <a:t>	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ArrayList</a:t>
            </a:r>
            <a:r>
              <a:rPr lang="en-IN" dirty="0" smtClean="0"/>
              <a:t>&lt;Student&gt; </a:t>
            </a:r>
            <a:r>
              <a:rPr lang="en-IN" dirty="0" err="1" smtClean="0"/>
              <a:t>studList</a:t>
            </a:r>
            <a:r>
              <a:rPr lang="en-IN" dirty="0" smtClean="0"/>
              <a:t> = new </a:t>
            </a:r>
            <a:r>
              <a:rPr lang="en-IN" dirty="0" err="1" smtClean="0"/>
              <a:t>ArrayList</a:t>
            </a:r>
            <a:r>
              <a:rPr lang="en-IN" dirty="0" smtClean="0"/>
              <a:t>&lt;Student&gt;();</a:t>
            </a:r>
          </a:p>
          <a:p>
            <a:r>
              <a:rPr lang="en-IN" dirty="0" smtClean="0"/>
              <a:t>		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studList.add</a:t>
            </a:r>
            <a:r>
              <a:rPr lang="en-IN" dirty="0" smtClean="0"/>
              <a:t>(new Student("</a:t>
            </a:r>
            <a:r>
              <a:rPr lang="en-IN" dirty="0" err="1" smtClean="0"/>
              <a:t>Madhu</a:t>
            </a:r>
            <a:r>
              <a:rPr lang="en-IN" dirty="0" smtClean="0"/>
              <a:t>", 85.2));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studList.add</a:t>
            </a:r>
            <a:r>
              <a:rPr lang="en-IN" dirty="0" smtClean="0"/>
              <a:t>(new Student("</a:t>
            </a:r>
            <a:r>
              <a:rPr lang="en-IN" dirty="0" err="1" smtClean="0"/>
              <a:t>Durga</a:t>
            </a:r>
            <a:r>
              <a:rPr lang="en-IN" dirty="0" smtClean="0"/>
              <a:t>", 45.7));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studList.add</a:t>
            </a:r>
            <a:r>
              <a:rPr lang="en-IN" dirty="0" smtClean="0"/>
              <a:t>(new Student("</a:t>
            </a:r>
            <a:r>
              <a:rPr lang="en-IN" dirty="0" err="1" smtClean="0"/>
              <a:t>Ramesh</a:t>
            </a:r>
            <a:r>
              <a:rPr lang="en-IN" dirty="0" smtClean="0"/>
              <a:t>", 90.8));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studList.add</a:t>
            </a:r>
            <a:r>
              <a:rPr lang="en-IN" dirty="0" smtClean="0"/>
              <a:t>(new Student("</a:t>
            </a:r>
            <a:r>
              <a:rPr lang="en-IN" dirty="0" err="1" smtClean="0"/>
              <a:t>NAveen</a:t>
            </a:r>
            <a:r>
              <a:rPr lang="en-IN" dirty="0" smtClean="0"/>
              <a:t>", 76.5));</a:t>
            </a:r>
          </a:p>
          <a:p>
            <a:r>
              <a:rPr lang="en-IN" dirty="0" smtClean="0"/>
              <a:t>		</a:t>
            </a:r>
          </a:p>
          <a:p>
            <a:r>
              <a:rPr lang="en-IN" dirty="0" smtClean="0"/>
              <a:t>		Comparator&lt;Student&gt; com = new </a:t>
            </a:r>
            <a:r>
              <a:rPr lang="en-IN" dirty="0" err="1" smtClean="0"/>
              <a:t>PercentageComparator</a:t>
            </a:r>
            <a:r>
              <a:rPr lang="en-IN" dirty="0" smtClean="0"/>
              <a:t>();</a:t>
            </a:r>
          </a:p>
          <a:p>
            <a:r>
              <a:rPr lang="en-IN" dirty="0" smtClean="0"/>
              <a:t>		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Collections.sort</a:t>
            </a:r>
            <a:r>
              <a:rPr lang="en-IN" dirty="0" smtClean="0"/>
              <a:t>(</a:t>
            </a:r>
            <a:r>
              <a:rPr lang="en-IN" dirty="0" err="1" smtClean="0"/>
              <a:t>studList</a:t>
            </a:r>
            <a:r>
              <a:rPr lang="en-IN" dirty="0" smtClean="0"/>
              <a:t>, com);</a:t>
            </a:r>
          </a:p>
          <a:p>
            <a:r>
              <a:rPr lang="en-IN" dirty="0" smtClean="0"/>
              <a:t>		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System.out.println</a:t>
            </a:r>
            <a:r>
              <a:rPr lang="en-IN" dirty="0" smtClean="0"/>
              <a:t>("</a:t>
            </a:r>
            <a:r>
              <a:rPr lang="en-IN" dirty="0" err="1" smtClean="0"/>
              <a:t>Avg</a:t>
            </a:r>
            <a:r>
              <a:rPr lang="en-IN" dirty="0" smtClean="0"/>
              <a:t> % --&gt; Name");</a:t>
            </a:r>
          </a:p>
          <a:p>
            <a:r>
              <a:rPr lang="en-IN" dirty="0" smtClean="0"/>
              <a:t>		</a:t>
            </a:r>
            <a:r>
              <a:rPr lang="en-IN" dirty="0" err="1" smtClean="0"/>
              <a:t>System.out.println</a:t>
            </a:r>
            <a:r>
              <a:rPr lang="en-IN" dirty="0" smtClean="0"/>
              <a:t>("---------------------");</a:t>
            </a:r>
          </a:p>
          <a:p>
            <a:r>
              <a:rPr lang="en-IN" dirty="0" smtClean="0"/>
              <a:t>		for(Student </a:t>
            </a:r>
            <a:r>
              <a:rPr lang="en-IN" dirty="0" err="1" smtClean="0"/>
              <a:t>stud:studList</a:t>
            </a:r>
            <a:r>
              <a:rPr lang="en-IN" dirty="0" smtClean="0"/>
              <a:t>) {</a:t>
            </a:r>
          </a:p>
          <a:p>
            <a:r>
              <a:rPr lang="en-IN" dirty="0" smtClean="0"/>
              <a:t>			</a:t>
            </a:r>
            <a:r>
              <a:rPr lang="en-IN" dirty="0" err="1" smtClean="0"/>
              <a:t>System.out.println</a:t>
            </a:r>
            <a:r>
              <a:rPr lang="en-IN" dirty="0" smtClean="0"/>
              <a:t>(</a:t>
            </a:r>
            <a:r>
              <a:rPr lang="en-IN" dirty="0" err="1" smtClean="0"/>
              <a:t>stud.percentage</a:t>
            </a:r>
            <a:r>
              <a:rPr lang="en-IN" dirty="0" smtClean="0"/>
              <a:t> + " --&gt; " + stud.name);</a:t>
            </a:r>
          </a:p>
          <a:p>
            <a:r>
              <a:rPr lang="en-IN" dirty="0" smtClean="0"/>
              <a:t>		}		</a:t>
            </a:r>
          </a:p>
          <a:p>
            <a:r>
              <a:rPr lang="en-IN" dirty="0" smtClean="0"/>
              <a:t>	}	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0135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1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2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8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8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9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8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2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3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8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9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0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8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3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4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8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0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1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8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7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8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8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4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5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8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950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6124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1615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78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553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-9026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Collections Framework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356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1187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41200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158401"/>
            <a:ext cx="12192000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b">
            <a:normAutofit/>
            <a:sp3d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b="1" spc="5" dirty="0" smtClean="0">
                <a:effectLst>
                  <a:outerShdw blurRad="50800" dist="50800" dir="5400000" algn="ctr" rotWithShape="0">
                    <a:schemeClr val="bg1"/>
                  </a:outerShdw>
                  <a:reflection blurRad="25400" stA="43000" endPos="22000" dir="5400000" sy="-100000" algn="bl" rotWithShape="0"/>
                </a:effectLst>
                <a:latin typeface="Bell MT" panose="02020503060305020303" pitchFamily="18" charset="0"/>
                <a:cs typeface="Arial"/>
              </a:rPr>
              <a:t>JavaScript</a:t>
            </a:r>
            <a:endParaRPr lang="en-IN" b="1" dirty="0">
              <a:effectLst>
                <a:outerShdw blurRad="50800" dist="50800" dir="5400000" algn="ctr" rotWithShape="0">
                  <a:schemeClr val="bg1"/>
                </a:outerShdw>
                <a:reflection blurRad="25400" stA="43000" endPos="22000" dir="5400000" sy="-100000" algn="bl" rotWithShape="0"/>
              </a:effectLst>
              <a:latin typeface="Bell MT" panose="020205030603050203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8894" y="2241176"/>
            <a:ext cx="11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Client-side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0149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2359</Words>
  <Application>Microsoft Office PowerPoint</Application>
  <PresentationFormat>Custom</PresentationFormat>
  <Paragraphs>620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Student</cp:lastModifiedBy>
  <cp:revision>88</cp:revision>
  <dcterms:created xsi:type="dcterms:W3CDTF">2020-09-11T05:23:44Z</dcterms:created>
  <dcterms:modified xsi:type="dcterms:W3CDTF">2021-07-17T05:26:14Z</dcterms:modified>
</cp:coreProperties>
</file>